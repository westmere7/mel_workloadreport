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20" r:id="rId4"/>
  </p:sldMasterIdLst>
  <p:notesMasterIdLst>
    <p:notesMasterId r:id="rId18"/>
  </p:notesMasterIdLst>
  <p:sldIdLst>
    <p:sldId id="304" r:id="rId5"/>
    <p:sldId id="306" r:id="rId6"/>
    <p:sldId id="343" r:id="rId7"/>
    <p:sldId id="346" r:id="rId8"/>
    <p:sldId id="344" r:id="rId9"/>
    <p:sldId id="345" r:id="rId10"/>
    <p:sldId id="349" r:id="rId11"/>
    <p:sldId id="350" r:id="rId12"/>
    <p:sldId id="342" r:id="rId13"/>
    <p:sldId id="347" r:id="rId14"/>
    <p:sldId id="315" r:id="rId15"/>
    <p:sldId id="348" r:id="rId16"/>
    <p:sldId id="333" r:id="rId17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6AFCC07-6351-D38A-BFF5-682F3485EB20}" name="Hilary Jones" initials="" userId="S::hilary.jones@rmit.edu.au::7f7cedb1-3782-457f-9fa6-7b1d6129a8e5" providerId="AD"/>
  <p188:author id="{CE1A9020-B6D4-C4C0-B2D3-284AFAE0D3C5}" name="Sarah Morley" initials="SM" userId="S::sarah.morley@rmit.edu.au::ad7a720f-71a2-4e21-b98f-de1faa32b6e7" providerId="AD"/>
  <p188:author id="{6CAF8156-AA95-6578-F88D-6065213CEC59}" name="Emily Bourrilhon" initials="" userId="S::emily.bourrilhon@rmit.edu.au::06dfc4ff-6a53-43c7-9a43-8d324e342285" providerId="AD"/>
  <p188:author id="{2F2DF158-80F2-8859-2FB8-B54B4BD7A521}" name="Jacob Johnston" initials="" userId="S::jacob.johnston@rmit.edu.au::ce90c1b0-eb93-4587-a447-c26cd4c766f1" providerId="AD"/>
  <p188:author id="{3BADD45D-6C28-9784-859C-0C0D30A0E210}" name="Dung Vu" initials="DV" userId="S::dung.vu9@rmit.edu.vn::db49b4bc-81a4-4fb3-bc15-d4effb3df92a" providerId="AD"/>
  <p188:author id="{741FCBA0-B742-6391-4BF0-5C8209459363}" name="Jane Tramby" initials="JT" userId="S::jane.tramby@rmit.edu.au::b3477ef0-73e2-4c84-a8cb-63567525240a" providerId="AD"/>
  <p188:author id="{78E247DC-A4BF-8E59-9587-6E2CECD67333}" name="Danh Nguyen" initials="" userId="S::danh.nguyen15@rmit.edu.vn::d5e1fe91-a326-47d0-8db8-fc5e06cda5cb" providerId="AD"/>
  <p188:author id="{1D2E08F8-1760-6687-F2FC-22E6A167AD66}" name="Olivia Villani" initials="OV" userId="S::olivia.villani@rmit.edu.au::d87ac168-ec0f-4ec5-af64-80fd45e5bd2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Sophie MacGillivray" initials="SM" lastIdx="7" clrIdx="6">
    <p:extLst>
      <p:ext uri="{19B8F6BF-5375-455C-9EA6-DF929625EA0E}">
        <p15:presenceInfo xmlns:p15="http://schemas.microsoft.com/office/powerpoint/2012/main" userId="S::sophie.macgillivray@rmit.edu.au::1582d821-a095-4492-868f-ca3120a0aac1" providerId="AD"/>
      </p:ext>
    </p:extLst>
  </p:cmAuthor>
  <p:cmAuthor id="1" name="Daniel Polidano" initials="DP" lastIdx="10" clrIdx="0">
    <p:extLst>
      <p:ext uri="{19B8F6BF-5375-455C-9EA6-DF929625EA0E}">
        <p15:presenceInfo xmlns:p15="http://schemas.microsoft.com/office/powerpoint/2012/main" userId="S::daniel.polidano@rmit.edu.au::23369db3-1b7b-40ff-863a-b188c2e0754c" providerId="AD"/>
      </p:ext>
    </p:extLst>
  </p:cmAuthor>
  <p:cmAuthor id="8" name="Olivia Villani" initials="OV" lastIdx="1" clrIdx="7">
    <p:extLst>
      <p:ext uri="{19B8F6BF-5375-455C-9EA6-DF929625EA0E}">
        <p15:presenceInfo xmlns:p15="http://schemas.microsoft.com/office/powerpoint/2012/main" userId="S::olivia.villani@rmit.edu.au::d87ac168-ec0f-4ec5-af64-80fd45e5bd24" providerId="AD"/>
      </p:ext>
    </p:extLst>
  </p:cmAuthor>
  <p:cmAuthor id="2" name="Sarah Morley" initials="SM" lastIdx="17" clrIdx="1">
    <p:extLst>
      <p:ext uri="{19B8F6BF-5375-455C-9EA6-DF929625EA0E}">
        <p15:presenceInfo xmlns:p15="http://schemas.microsoft.com/office/powerpoint/2012/main" userId="S::sarah.morley@rmit.edu.au::ad7a720f-71a2-4e21-b98f-de1faa32b6e7" providerId="AD"/>
      </p:ext>
    </p:extLst>
  </p:cmAuthor>
  <p:cmAuthor id="3" name="Darcy Muller" initials="DM" lastIdx="8" clrIdx="2">
    <p:extLst>
      <p:ext uri="{19B8F6BF-5375-455C-9EA6-DF929625EA0E}">
        <p15:presenceInfo xmlns:p15="http://schemas.microsoft.com/office/powerpoint/2012/main" userId="S::darcy.muller@rmit.edu.au::7a5694f8-bfb9-4e38-8e6a-504c4d893d3e" providerId="AD"/>
      </p:ext>
    </p:extLst>
  </p:cmAuthor>
  <p:cmAuthor id="4" name="Ben Bucknall" initials="BB" lastIdx="6" clrIdx="3">
    <p:extLst>
      <p:ext uri="{19B8F6BF-5375-455C-9EA6-DF929625EA0E}">
        <p15:presenceInfo xmlns:p15="http://schemas.microsoft.com/office/powerpoint/2012/main" userId="S::ben.bucknall@rmit.edu.au::30817f56-0a79-48ff-89b7-28590598d990" providerId="AD"/>
      </p:ext>
    </p:extLst>
  </p:cmAuthor>
  <p:cmAuthor id="5" name="Jane Tramby" initials="JT" lastIdx="2" clrIdx="4">
    <p:extLst>
      <p:ext uri="{19B8F6BF-5375-455C-9EA6-DF929625EA0E}">
        <p15:presenceInfo xmlns:p15="http://schemas.microsoft.com/office/powerpoint/2012/main" userId="S::jane.tramby@rmit.edu.au::b3477ef0-73e2-4c84-a8cb-63567525240a" providerId="AD"/>
      </p:ext>
    </p:extLst>
  </p:cmAuthor>
  <p:cmAuthor id="6" name="Bob Xiao" initials="BX" lastIdx="3" clrIdx="5">
    <p:extLst>
      <p:ext uri="{19B8F6BF-5375-455C-9EA6-DF929625EA0E}">
        <p15:presenceInfo xmlns:p15="http://schemas.microsoft.com/office/powerpoint/2012/main" userId="S::bob.xiao@rmit.edu.au::87402b42-2b1b-4fc5-bb03-3f3b4a40682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54"/>
    <a:srgbClr val="B3B3CC"/>
    <a:srgbClr val="E61E2A"/>
    <a:srgbClr val="E8E7EA"/>
    <a:srgbClr val="000000"/>
    <a:srgbClr val="B3B3F0"/>
    <a:srgbClr val="EAECE8"/>
    <a:srgbClr val="E6E6EE"/>
    <a:srgbClr val="8080AA"/>
    <a:srgbClr val="F1F2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85" d="100"/>
          <a:sy n="185" d="100"/>
        </p:scale>
        <p:origin x="115" y="39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69C4A591-A458-4822-BC04-83B10B194356}" type="datetimeFigureOut">
              <a:rPr lang="en" smtClean="0"/>
              <a:pPr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0A03F2E6-9F51-4289-953D-B2EF8579062F}" type="slidenum">
              <a:rPr lang="en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93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429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6858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0287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3716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option 1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1F2C3B5-0EEE-7745-A7B9-592D5689F935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72557" y="230189"/>
            <a:ext cx="8430423" cy="131353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400">
                <a:solidFill>
                  <a:schemeClr val="accent2"/>
                </a:solidFill>
              </a:defRPr>
            </a:lvl1pPr>
          </a:lstStyle>
          <a:p>
            <a:r>
              <a:rPr lang="en-GB" noProof="0"/>
              <a:t>Click to edit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72557" y="1644045"/>
            <a:ext cx="8430423" cy="1056952"/>
          </a:xfrm>
        </p:spPr>
        <p:txBody>
          <a:bodyPr anchor="t" anchorCtr="0"/>
          <a:lstStyle>
            <a:lvl1pPr marL="0" indent="0" algn="l">
              <a:buNone/>
              <a:defRPr sz="2700" b="1">
                <a:solidFill>
                  <a:schemeClr val="bg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Subhead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D35544-392A-4E4D-A137-14755080D317}"/>
              </a:ext>
            </a:extLst>
          </p:cNvPr>
          <p:cNvSpPr txBox="1"/>
          <p:nvPr userDrawn="1"/>
        </p:nvSpPr>
        <p:spPr>
          <a:xfrm>
            <a:off x="7566311" y="4922502"/>
            <a:ext cx="1674047" cy="169277"/>
          </a:xfrm>
          <a:prstGeom prst="rect">
            <a:avLst/>
          </a:prstGeom>
          <a:noFill/>
        </p:spPr>
        <p:txBody>
          <a:bodyPr vert="horz" wrap="square" lIns="0" tIns="45720" rIns="91440" bIns="45720" rtlCol="0" anchor="t" anchorCtr="0">
            <a:spAutoFit/>
          </a:bodyPr>
          <a:lstStyle/>
          <a:p>
            <a:r>
              <a:rPr lang="en-AU" sz="500" b="0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CRICOS provider number: 00122A | RTO Code: 3046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A427ED0-C848-5943-E6E3-F3ACFAEFDE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3" y="4386221"/>
            <a:ext cx="2534577" cy="7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502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option 2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696229-ED0C-CF40-A716-1482E7A51AF3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72557" y="230189"/>
            <a:ext cx="8066438" cy="1413857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Project title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72557" y="1644045"/>
            <a:ext cx="8066438" cy="1056952"/>
          </a:xfrm>
        </p:spPr>
        <p:txBody>
          <a:bodyPr anchor="t" anchorCtr="0"/>
          <a:lstStyle>
            <a:lvl1pPr marL="0" indent="0" algn="l">
              <a:buNone/>
              <a:defRPr sz="2700" b="1">
                <a:solidFill>
                  <a:schemeClr val="bg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Subhead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94BFB8-5006-854E-A03B-65D75E3FA688}"/>
              </a:ext>
            </a:extLst>
          </p:cNvPr>
          <p:cNvSpPr txBox="1"/>
          <p:nvPr userDrawn="1"/>
        </p:nvSpPr>
        <p:spPr>
          <a:xfrm>
            <a:off x="7566311" y="4922502"/>
            <a:ext cx="1674047" cy="169277"/>
          </a:xfrm>
          <a:prstGeom prst="rect">
            <a:avLst/>
          </a:prstGeom>
          <a:noFill/>
        </p:spPr>
        <p:txBody>
          <a:bodyPr vert="horz" wrap="square" lIns="0" tIns="45720" rIns="91440" bIns="45720" rtlCol="0" anchor="t" anchorCtr="0">
            <a:spAutoFit/>
          </a:bodyPr>
          <a:lstStyle/>
          <a:p>
            <a:r>
              <a:rPr lang="en-AU" sz="500" b="0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CRICOS provider number: 00122A | RTO Code: 3046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C85162-60F6-B4E5-9FB5-792BBD29D4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74" y="4386221"/>
            <a:ext cx="2534574" cy="7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297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option 3_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1F2C3B5-0EEE-7745-A7B9-592D5689F935}"/>
              </a:ext>
            </a:extLst>
          </p:cNvPr>
          <p:cNvSpPr/>
          <p:nvPr userDrawn="1"/>
        </p:nvSpPr>
        <p:spPr>
          <a:xfrm>
            <a:off x="0" y="0"/>
            <a:ext cx="4870938" cy="5143500"/>
          </a:xfrm>
          <a:prstGeom prst="rect">
            <a:avLst/>
          </a:prstGeom>
          <a:solidFill>
            <a:srgbClr val="0000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72557" y="1644045"/>
            <a:ext cx="4399443" cy="1310171"/>
          </a:xfrm>
        </p:spPr>
        <p:txBody>
          <a:bodyPr anchor="t" anchorCtr="0"/>
          <a:lstStyle>
            <a:lvl1pPr marL="0" indent="0" algn="l">
              <a:buNone/>
              <a:defRPr sz="2100" b="1">
                <a:solidFill>
                  <a:schemeClr val="bg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Subhead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91D0F7C-79A1-4847-8A60-AC7E92D3F8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075" y="702279"/>
            <a:ext cx="4352925" cy="429816"/>
          </a:xfrm>
          <a:solidFill>
            <a:schemeClr val="accent2"/>
          </a:solidFill>
        </p:spPr>
        <p:txBody>
          <a:bodyPr/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GB" sz="2700" b="1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GB" sz="2700" b="1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GB" sz="2700" b="1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GB" sz="2700" b="1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US" sz="2700" b="1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Project title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32C4CC1-402A-1C44-ABC7-0CA4A95DA3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9076" y="214082"/>
            <a:ext cx="4352925" cy="429816"/>
          </a:xfrm>
          <a:solidFill>
            <a:schemeClr val="accent2"/>
          </a:solidFill>
        </p:spPr>
        <p:txBody>
          <a:bodyPr/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GB" sz="2700" b="1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GB" sz="2700" b="1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GB" sz="2700" b="1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GB" sz="2700" b="1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US" sz="2700" b="1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D42EB612-735B-1B46-A9E2-EC6C65F3D6C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870939" y="0"/>
            <a:ext cx="4273061" cy="51435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1F0B9D-BDB2-AE4F-8EAD-C0C1263F14C3}"/>
              </a:ext>
            </a:extLst>
          </p:cNvPr>
          <p:cNvSpPr txBox="1"/>
          <p:nvPr userDrawn="1"/>
        </p:nvSpPr>
        <p:spPr>
          <a:xfrm>
            <a:off x="7566311" y="4922502"/>
            <a:ext cx="1674047" cy="169277"/>
          </a:xfrm>
          <a:prstGeom prst="rect">
            <a:avLst/>
          </a:prstGeom>
          <a:noFill/>
        </p:spPr>
        <p:txBody>
          <a:bodyPr vert="horz" wrap="square" lIns="0" tIns="45720" rIns="91440" bIns="45720" rtlCol="0" anchor="t" anchorCtr="0">
            <a:spAutoFit/>
          </a:bodyPr>
          <a:lstStyle/>
          <a:p>
            <a:r>
              <a:rPr lang="en-AU" sz="5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CRICOS provider number: 00122A | RTO Code: 3046</a:t>
            </a: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14E4EFC-5141-92CE-A170-AB13DEB38C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3" y="4386221"/>
            <a:ext cx="2534577" cy="7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292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option 4_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565D2C7C-F7B8-3D4E-8FAC-30CE49EDB43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076" y="214082"/>
            <a:ext cx="4352924" cy="417504"/>
          </a:xfrm>
          <a:solidFill>
            <a:schemeClr val="accent2"/>
          </a:solidFill>
        </p:spPr>
        <p:txBody>
          <a:bodyPr wrap="square" anchor="t" anchorCtr="0"/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1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B550C-590C-F644-9EFE-122CA7D731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075" y="702279"/>
            <a:ext cx="4352925" cy="429816"/>
          </a:xfrm>
          <a:solidFill>
            <a:schemeClr val="accent2"/>
          </a:solidFill>
        </p:spPr>
        <p:txBody>
          <a:bodyPr/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GB" sz="2700" b="1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GB" sz="2700" b="1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GB" sz="2700" b="1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GB" sz="2700" b="1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  <a:buFont typeface="Arial" panose="020B0604020202020204" pitchFamily="34" charset="0"/>
              <a:buNone/>
              <a:defRPr lang="en-US" sz="2700" b="1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Project title style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3AE239-409C-BB4F-846F-0F3531A514AB}"/>
              </a:ext>
            </a:extLst>
          </p:cNvPr>
          <p:cNvSpPr txBox="1"/>
          <p:nvPr userDrawn="1"/>
        </p:nvSpPr>
        <p:spPr>
          <a:xfrm>
            <a:off x="7566311" y="4922502"/>
            <a:ext cx="1674047" cy="169277"/>
          </a:xfrm>
          <a:prstGeom prst="rect">
            <a:avLst/>
          </a:prstGeom>
          <a:noFill/>
        </p:spPr>
        <p:txBody>
          <a:bodyPr vert="horz" wrap="square" lIns="0" tIns="45720" rIns="91440" bIns="45720" rtlCol="0" anchor="t" anchorCtr="0">
            <a:spAutoFit/>
          </a:bodyPr>
          <a:lstStyle/>
          <a:p>
            <a:r>
              <a:rPr lang="en-AU" sz="5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CRICOS provider number: 00122A | RTO Code: 3046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8AA3EA-F37A-52B2-F7B4-E9BD273AF0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74" y="4386221"/>
            <a:ext cx="2534574" cy="7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493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oC_welc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8BC03576-29ED-967C-98C2-601051D6E0D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543" t="25199" r="-10266" b="27773"/>
          <a:stretch/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B33129-852D-9AD8-E662-A4C79CA184CB}"/>
              </a:ext>
            </a:extLst>
          </p:cNvPr>
          <p:cNvSpPr txBox="1"/>
          <p:nvPr userDrawn="1"/>
        </p:nvSpPr>
        <p:spPr>
          <a:xfrm>
            <a:off x="6330300" y="1440671"/>
            <a:ext cx="2627963" cy="2262158"/>
          </a:xfrm>
          <a:prstGeom prst="rect">
            <a:avLst/>
          </a:prstGeom>
          <a:noFill/>
        </p:spPr>
        <p:txBody>
          <a:bodyPr vert="horz" wrap="square" lIns="0" tIns="34290" rIns="68580" bIns="34290" rtlCol="0" anchor="t" anchorCtr="0">
            <a:spAutoFit/>
          </a:bodyPr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100" b="1" kern="1200" baseline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Acknowledgement of Country</a:t>
            </a:r>
            <a:endParaRPr lang="en-US" sz="1100" b="0" kern="120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algn="l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RMIT University acknowledges the people of the Woi wurrung and Boon wurrung language groups of the eastern Kulin Nation on whose unceded lands we conduct the business of the University. </a:t>
            </a:r>
          </a:p>
          <a:p>
            <a:pPr marL="0" indent="0" algn="l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RMIT University respectfully acknowledges their Ancestors and Elders, past and present.</a:t>
            </a:r>
          </a:p>
          <a:p>
            <a:pPr marL="0" indent="0" algn="l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0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RMIT also acknowledges the Traditional Custodians and their Ancestors of the lands and waters across Australia where we conduct our business.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B5C93-9CF0-C3D3-00E3-991602EC3F4C}"/>
              </a:ext>
            </a:extLst>
          </p:cNvPr>
          <p:cNvSpPr txBox="1"/>
          <p:nvPr userDrawn="1"/>
        </p:nvSpPr>
        <p:spPr>
          <a:xfrm>
            <a:off x="6330300" y="4497073"/>
            <a:ext cx="2468260" cy="561692"/>
          </a:xfrm>
          <a:prstGeom prst="rect">
            <a:avLst/>
          </a:prstGeom>
          <a:noFill/>
        </p:spPr>
        <p:txBody>
          <a:bodyPr vert="horz" wrap="square" lIns="0" tIns="34290" rIns="68580" bIns="34290" rtlCol="0" anchor="t" anchorCtr="0">
            <a:spAutoFit/>
          </a:bodyPr>
          <a:lstStyle/>
          <a:p>
            <a:pPr marL="0" indent="0" algn="l" defTabSz="6857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AU" sz="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Artwork ‘Sentient’ by Hollie Johnson</a:t>
            </a:r>
            <a:br>
              <a:rPr lang="en-AU" sz="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AU" sz="8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Hollie is a Gunaikurnai and Monero Ngarigo woman from Gippsland who graduated from RMIT with a BA in Photography in 2016.</a:t>
            </a:r>
          </a:p>
        </p:txBody>
      </p:sp>
    </p:spTree>
    <p:extLst>
      <p:ext uri="{BB962C8B-B14F-4D97-AF65-F5344CB8AC3E}">
        <p14:creationId xmlns:p14="http://schemas.microsoft.com/office/powerpoint/2010/main" val="3971504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oC_additional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B3504D-D80A-6C43-8AEA-0D9553EF5920}"/>
              </a:ext>
            </a:extLst>
          </p:cNvPr>
          <p:cNvSpPr txBox="1"/>
          <p:nvPr userDrawn="1"/>
        </p:nvSpPr>
        <p:spPr>
          <a:xfrm>
            <a:off x="334864" y="1052437"/>
            <a:ext cx="4035607" cy="3547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750"/>
              </a:spcAft>
              <a:buClr>
                <a:srgbClr val="222160"/>
              </a:buClr>
              <a:buSzTx/>
              <a:buFont typeface="Wingdings" pitchFamily="2" charset="2"/>
              <a:buNone/>
              <a:tabLst/>
              <a:defRPr/>
            </a:pPr>
            <a:r>
              <a:rPr lang="en-AU" sz="1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RMIT is committed to redefining its relationship in working with and supporting Aboriginal and Torres Strait Islander </a:t>
            </a:r>
            <a:r>
              <a:rPr lang="en-AU" sz="1425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self-determination</a:t>
            </a:r>
            <a:r>
              <a:rPr lang="en-AU" sz="1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750"/>
              </a:spcAft>
              <a:buClr>
                <a:srgbClr val="222160"/>
              </a:buClr>
              <a:buSzTx/>
              <a:buFont typeface="Wingdings" pitchFamily="2" charset="2"/>
              <a:buNone/>
              <a:tabLst/>
              <a:defRPr/>
            </a:pPr>
            <a:r>
              <a:rPr lang="en-AU" sz="1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University’s goal is to achieve lasting transformation by maturing its values, culture, policy and structures in a way that </a:t>
            </a:r>
            <a:r>
              <a:rPr lang="en-AU" sz="1425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embeds reconciliation</a:t>
            </a:r>
            <a:r>
              <a:rPr lang="en-AU" sz="1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 everything we do.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750"/>
              </a:spcAft>
              <a:buClr>
                <a:srgbClr val="222160"/>
              </a:buClr>
              <a:buSzTx/>
              <a:buFont typeface="Wingdings" pitchFamily="2" charset="2"/>
              <a:buNone/>
              <a:tabLst/>
              <a:defRPr/>
            </a:pPr>
            <a:r>
              <a:rPr lang="en-AU" sz="1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 line with the principles of </a:t>
            </a:r>
            <a:r>
              <a:rPr lang="en-AU" sz="1425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Bundjil</a:t>
            </a:r>
            <a:r>
              <a:rPr lang="en-AU" sz="1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we are changing our ways of 'knowing, working and being' to support sustainable reconciliation and activate a relationship between Indigenous and non-Indigenous staff, students and community. 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222160"/>
              </a:buClr>
              <a:buSzTx/>
              <a:buFont typeface="Wingdings" pitchFamily="2" charset="2"/>
              <a:buNone/>
              <a:tabLst/>
              <a:defRPr/>
            </a:pPr>
            <a:endParaRPr lang="en-AU" sz="1500" b="0" i="0" kern="120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0E1C7BAE-965C-7E42-9A5B-2631428F4E21}"/>
              </a:ext>
            </a:extLst>
          </p:cNvPr>
          <p:cNvSpPr txBox="1">
            <a:spLocks/>
          </p:cNvSpPr>
          <p:nvPr userDrawn="1"/>
        </p:nvSpPr>
        <p:spPr>
          <a:xfrm>
            <a:off x="418719" y="501403"/>
            <a:ext cx="4029957" cy="339324"/>
          </a:xfrm>
          <a:prstGeom prst="rect">
            <a:avLst/>
          </a:prstGeom>
          <a:solidFill>
            <a:schemeClr val="accent2"/>
          </a:solidFill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61E2A"/>
                </a:solidFill>
                <a:latin typeface="Museo 700" panose="02000000000000000000" pitchFamily="2" charset="77"/>
                <a:ea typeface="+mj-ea"/>
                <a:cs typeface="+mj-cs"/>
              </a:defRPr>
            </a:lvl1pPr>
          </a:lstStyle>
          <a:p>
            <a: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AU" sz="2025" b="0" i="0">
                <a:solidFill>
                  <a:schemeClr val="bg1"/>
                </a:solidFill>
                <a:latin typeface="+mj-lt"/>
                <a:ea typeface="+mj-lt"/>
                <a:cs typeface="+mj-lt"/>
              </a:rPr>
              <a:t>Our commitment to Reconciliation</a:t>
            </a:r>
            <a:endParaRPr lang="en-AU" sz="2025" b="0" i="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8447A8-B89A-974C-85E4-994501031D27}"/>
              </a:ext>
            </a:extLst>
          </p:cNvPr>
          <p:cNvSpPr txBox="1"/>
          <p:nvPr userDrawn="1"/>
        </p:nvSpPr>
        <p:spPr>
          <a:xfrm>
            <a:off x="4773530" y="3738495"/>
            <a:ext cx="3951957" cy="34624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Clr>
                <a:srgbClr val="222160"/>
              </a:buClr>
              <a:buSzTx/>
              <a:buFont typeface="Wingdings" pitchFamily="2" charset="2"/>
              <a:buNone/>
              <a:tabLst/>
              <a:defRPr/>
            </a:pPr>
            <a:r>
              <a:rPr lang="en-AU" sz="825" b="0" i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2018, the Wurrunggi Biik – Law of the Land public artwork was installed in the New Academic Street to signify a long-lasting spiritual connection to Country.</a:t>
            </a:r>
          </a:p>
        </p:txBody>
      </p:sp>
      <p:pic>
        <p:nvPicPr>
          <p:cNvPr id="10" name="Picture 9" descr="A person in a garment&#10;&#10;Description automatically generated with low confidence">
            <a:extLst>
              <a:ext uri="{FF2B5EF4-FFF2-40B4-BE49-F238E27FC236}">
                <a16:creationId xmlns:a16="http://schemas.microsoft.com/office/drawing/2014/main" id="{F28E96F6-22DC-0A48-8504-3C6BB7D7E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73530" y="1131234"/>
            <a:ext cx="3775384" cy="2514336"/>
          </a:xfrm>
          <a:prstGeom prst="rect">
            <a:avLst/>
          </a:prstGeom>
        </p:spPr>
      </p:pic>
      <p:pic>
        <p:nvPicPr>
          <p:cNvPr id="2" name="Picture 5">
            <a:extLst>
              <a:ext uri="{FF2B5EF4-FFF2-40B4-BE49-F238E27FC236}">
                <a16:creationId xmlns:a16="http://schemas.microsoft.com/office/drawing/2014/main" id="{ECF470D5-8009-69F1-7602-9CA2CFD0168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633" t="30239" r="18535" b="64073"/>
          <a:stretch/>
        </p:blipFill>
        <p:spPr>
          <a:xfrm>
            <a:off x="-1" y="4495800"/>
            <a:ext cx="9144001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602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genous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9299B-E144-974E-B70F-C42B8E5D8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332" y="187525"/>
            <a:ext cx="6868272" cy="994172"/>
          </a:xfrm>
        </p:spPr>
        <p:txBody>
          <a:bodyPr lIns="0"/>
          <a:lstStyle>
            <a:lvl1pPr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EB78C3AA-166A-6F4E-9E52-DBCB13135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4333" y="1183251"/>
            <a:ext cx="6868271" cy="3385177"/>
          </a:xfrm>
        </p:spPr>
        <p:txBody>
          <a:bodyPr lIns="0"/>
          <a:lstStyle>
            <a:lvl1pPr>
              <a:defRPr b="0"/>
            </a:lvl1pPr>
            <a:lvl2pPr marL="257175" indent="-257175">
              <a:buFont typeface="Wingdings" pitchFamily="2" charset="2"/>
              <a:buChar char="§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670D66-EE3D-E549-83E8-351DAC6D7E4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039" t="23384" r="53860" b="20850"/>
          <a:stretch/>
        </p:blipFill>
        <p:spPr>
          <a:xfrm>
            <a:off x="0" y="0"/>
            <a:ext cx="1398280" cy="51435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9826827-0070-444A-B806-3942CBC732C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7911" y="4568428"/>
            <a:ext cx="502444" cy="50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8">
            <a:extLst>
              <a:ext uri="{FF2B5EF4-FFF2-40B4-BE49-F238E27FC236}">
                <a16:creationId xmlns:a16="http://schemas.microsoft.com/office/drawing/2014/main" id="{3D41FB27-DC2C-D146-8DD0-8451E51FC25F}"/>
              </a:ext>
            </a:extLst>
          </p:cNvPr>
          <p:cNvSpPr/>
          <p:nvPr userDrawn="1"/>
        </p:nvSpPr>
        <p:spPr>
          <a:xfrm>
            <a:off x="245328" y="214141"/>
            <a:ext cx="1930436" cy="57185"/>
          </a:xfrm>
          <a:custGeom>
            <a:avLst/>
            <a:gdLst/>
            <a:ahLst/>
            <a:cxnLst/>
            <a:rect l="l" t="t" r="r" b="b"/>
            <a:pathLst>
              <a:path w="4244340" h="125730">
                <a:moveTo>
                  <a:pt x="4243734" y="0"/>
                </a:moveTo>
                <a:lnTo>
                  <a:pt x="0" y="0"/>
                </a:lnTo>
                <a:lnTo>
                  <a:pt x="0" y="125650"/>
                </a:lnTo>
                <a:lnTo>
                  <a:pt x="4243734" y="125650"/>
                </a:lnTo>
                <a:lnTo>
                  <a:pt x="4243734" y="0"/>
                </a:lnTo>
                <a:close/>
              </a:path>
            </a:pathLst>
          </a:custGeom>
          <a:solidFill>
            <a:srgbClr val="E61E2A"/>
          </a:solidFill>
        </p:spPr>
        <p:txBody>
          <a:bodyPr wrap="square" lIns="0" tIns="0" rIns="0" bIns="0" rtlCol="0"/>
          <a:lstStyle/>
          <a:p>
            <a:endParaRPr sz="1013" b="0" i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9299B-E144-974E-B70F-C42B8E5D8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29" y="299902"/>
            <a:ext cx="8665025" cy="785439"/>
          </a:xfrm>
        </p:spPr>
        <p:txBody>
          <a:bodyPr lIns="0"/>
          <a:lstStyle>
            <a:lvl1pPr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E967A21-E4C6-4743-ACC9-BD2F503384D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7911" y="4568428"/>
            <a:ext cx="502444" cy="502444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1AC9A1A-9F25-FC42-989B-96EA919D0C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5329" y="1191718"/>
            <a:ext cx="8681978" cy="3388617"/>
          </a:xfrm>
        </p:spPr>
        <p:txBody>
          <a:bodyPr lIns="0"/>
          <a:lstStyle>
            <a:lvl1pPr>
              <a:defRPr b="0"/>
            </a:lvl1pPr>
            <a:lvl2pPr marL="257175" indent="-257175">
              <a:buFont typeface="Wingdings" pitchFamily="2" charset="2"/>
              <a:buChar char="§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64485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AB63F385-83EE-DF49-B0AA-EEF39BBEF0FF}"/>
              </a:ext>
            </a:extLst>
          </p:cNvPr>
          <p:cNvSpPr/>
          <p:nvPr userDrawn="1"/>
        </p:nvSpPr>
        <p:spPr>
          <a:xfrm>
            <a:off x="0" y="1"/>
            <a:ext cx="2421092" cy="5143500"/>
          </a:xfrm>
          <a:custGeom>
            <a:avLst/>
            <a:gdLst/>
            <a:ahLst/>
            <a:cxnLst/>
            <a:rect l="l" t="t" r="r" b="b"/>
            <a:pathLst>
              <a:path w="4796155" h="11308715">
                <a:moveTo>
                  <a:pt x="4795665" y="0"/>
                </a:moveTo>
                <a:lnTo>
                  <a:pt x="0" y="0"/>
                </a:lnTo>
                <a:lnTo>
                  <a:pt x="0" y="11308556"/>
                </a:lnTo>
                <a:lnTo>
                  <a:pt x="4795665" y="11308556"/>
                </a:lnTo>
                <a:lnTo>
                  <a:pt x="4795665" y="0"/>
                </a:lnTo>
                <a:close/>
              </a:path>
            </a:pathLst>
          </a:custGeom>
          <a:solidFill>
            <a:srgbClr val="000054"/>
          </a:solidFill>
        </p:spPr>
        <p:txBody>
          <a:bodyPr wrap="square" lIns="0" tIns="0" rIns="0" bIns="0" rtlCol="0"/>
          <a:lstStyle/>
          <a:p>
            <a:endParaRPr sz="1013" b="0" i="0">
              <a:latin typeface="Arial" panose="020B0604020202020204" pitchFamily="34" charset="0"/>
            </a:endParaRPr>
          </a:p>
        </p:txBody>
      </p:sp>
      <p:sp>
        <p:nvSpPr>
          <p:cNvPr id="9" name="object 18">
            <a:extLst>
              <a:ext uri="{FF2B5EF4-FFF2-40B4-BE49-F238E27FC236}">
                <a16:creationId xmlns:a16="http://schemas.microsoft.com/office/drawing/2014/main" id="{3D41FB27-DC2C-D146-8DD0-8451E51FC25F}"/>
              </a:ext>
            </a:extLst>
          </p:cNvPr>
          <p:cNvSpPr/>
          <p:nvPr userDrawn="1"/>
        </p:nvSpPr>
        <p:spPr>
          <a:xfrm>
            <a:off x="245328" y="214141"/>
            <a:ext cx="1930436" cy="57185"/>
          </a:xfrm>
          <a:custGeom>
            <a:avLst/>
            <a:gdLst/>
            <a:ahLst/>
            <a:cxnLst/>
            <a:rect l="l" t="t" r="r" b="b"/>
            <a:pathLst>
              <a:path w="4244340" h="125730">
                <a:moveTo>
                  <a:pt x="4243734" y="0"/>
                </a:moveTo>
                <a:lnTo>
                  <a:pt x="0" y="0"/>
                </a:lnTo>
                <a:lnTo>
                  <a:pt x="0" y="125650"/>
                </a:lnTo>
                <a:lnTo>
                  <a:pt x="4243734" y="125650"/>
                </a:lnTo>
                <a:lnTo>
                  <a:pt x="4243734" y="0"/>
                </a:lnTo>
                <a:close/>
              </a:path>
            </a:pathLst>
          </a:custGeom>
          <a:solidFill>
            <a:srgbClr val="E61E2A"/>
          </a:solidFill>
        </p:spPr>
        <p:txBody>
          <a:bodyPr wrap="square" lIns="0" tIns="0" rIns="0" bIns="0" rtlCol="0"/>
          <a:lstStyle/>
          <a:p>
            <a:endParaRPr sz="1013" b="0" i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9299B-E144-974E-B70F-C42B8E5D8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329" y="299902"/>
            <a:ext cx="1930436" cy="994172"/>
          </a:xfrm>
        </p:spPr>
        <p:txBody>
          <a:bodyPr lIns="0"/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en-GB"/>
              <a:t>Heading here</a:t>
            </a:r>
            <a:endParaRPr lang="en-US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EB78C3AA-166A-6F4E-9E52-DBCB13135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62250" y="1257300"/>
            <a:ext cx="6165056" cy="3323035"/>
          </a:xfrm>
        </p:spPr>
        <p:txBody>
          <a:bodyPr lIns="0"/>
          <a:lstStyle>
            <a:lvl1pPr>
              <a:defRPr b="1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787F3F3-3E70-BE46-8E48-0F67DBAD9B5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7911" y="4568428"/>
            <a:ext cx="502444" cy="50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65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AB63F385-83EE-DF49-B0AA-EEF39BBEF0FF}"/>
              </a:ext>
            </a:extLst>
          </p:cNvPr>
          <p:cNvSpPr/>
          <p:nvPr userDrawn="1"/>
        </p:nvSpPr>
        <p:spPr>
          <a:xfrm>
            <a:off x="0" y="1"/>
            <a:ext cx="2421092" cy="5143500"/>
          </a:xfrm>
          <a:custGeom>
            <a:avLst/>
            <a:gdLst/>
            <a:ahLst/>
            <a:cxnLst/>
            <a:rect l="l" t="t" r="r" b="b"/>
            <a:pathLst>
              <a:path w="4796155" h="11308715">
                <a:moveTo>
                  <a:pt x="4795665" y="0"/>
                </a:moveTo>
                <a:lnTo>
                  <a:pt x="0" y="0"/>
                </a:lnTo>
                <a:lnTo>
                  <a:pt x="0" y="11308556"/>
                </a:lnTo>
                <a:lnTo>
                  <a:pt x="4795665" y="11308556"/>
                </a:lnTo>
                <a:lnTo>
                  <a:pt x="4795665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sz="1013" b="0" i="0">
              <a:latin typeface="Arial" panose="020B0604020202020204" pitchFamily="34" charset="0"/>
            </a:endParaRPr>
          </a:p>
        </p:txBody>
      </p:sp>
      <p:sp>
        <p:nvSpPr>
          <p:cNvPr id="9" name="object 18">
            <a:extLst>
              <a:ext uri="{FF2B5EF4-FFF2-40B4-BE49-F238E27FC236}">
                <a16:creationId xmlns:a16="http://schemas.microsoft.com/office/drawing/2014/main" id="{3D41FB27-DC2C-D146-8DD0-8451E51FC25F}"/>
              </a:ext>
            </a:extLst>
          </p:cNvPr>
          <p:cNvSpPr/>
          <p:nvPr userDrawn="1"/>
        </p:nvSpPr>
        <p:spPr>
          <a:xfrm>
            <a:off x="245328" y="214141"/>
            <a:ext cx="1930436" cy="57185"/>
          </a:xfrm>
          <a:custGeom>
            <a:avLst/>
            <a:gdLst/>
            <a:ahLst/>
            <a:cxnLst/>
            <a:rect l="l" t="t" r="r" b="b"/>
            <a:pathLst>
              <a:path w="4244340" h="125730">
                <a:moveTo>
                  <a:pt x="4243734" y="0"/>
                </a:moveTo>
                <a:lnTo>
                  <a:pt x="0" y="0"/>
                </a:lnTo>
                <a:lnTo>
                  <a:pt x="0" y="125650"/>
                </a:lnTo>
                <a:lnTo>
                  <a:pt x="4243734" y="125650"/>
                </a:lnTo>
                <a:lnTo>
                  <a:pt x="4243734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1013" b="0" i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9299B-E144-974E-B70F-C42B8E5D8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329" y="299902"/>
            <a:ext cx="1930436" cy="994172"/>
          </a:xfrm>
        </p:spPr>
        <p:txBody>
          <a:bodyPr lIns="0"/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en-GB"/>
              <a:t>Heading here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1BACC56-8574-434D-BF1B-7A7AF81B14A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7911" y="4568428"/>
            <a:ext cx="502444" cy="502444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BAFD139-1039-4E45-9B01-6D19991FBA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62250" y="1257300"/>
            <a:ext cx="6165056" cy="3323035"/>
          </a:xfrm>
        </p:spPr>
        <p:txBody>
          <a:bodyPr lIns="0"/>
          <a:lstStyle>
            <a:lvl1pPr>
              <a:defRPr b="1"/>
            </a:lvl1pPr>
            <a:lvl2pPr marL="257175" indent="-257175">
              <a:buFont typeface="Wingdings" pitchFamily="2" charset="2"/>
              <a:buChar char="§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98829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389B6B7A-C2B8-BA4D-ABD2-4BE87C2CAB4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421091" y="0"/>
            <a:ext cx="6722909" cy="51435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AB63F385-83EE-DF49-B0AA-EEF39BBEF0FF}"/>
              </a:ext>
            </a:extLst>
          </p:cNvPr>
          <p:cNvSpPr/>
          <p:nvPr userDrawn="1"/>
        </p:nvSpPr>
        <p:spPr>
          <a:xfrm>
            <a:off x="0" y="1"/>
            <a:ext cx="2421092" cy="5143500"/>
          </a:xfrm>
          <a:custGeom>
            <a:avLst/>
            <a:gdLst/>
            <a:ahLst/>
            <a:cxnLst/>
            <a:rect l="l" t="t" r="r" b="b"/>
            <a:pathLst>
              <a:path w="4796155" h="11308715">
                <a:moveTo>
                  <a:pt x="4795665" y="0"/>
                </a:moveTo>
                <a:lnTo>
                  <a:pt x="0" y="0"/>
                </a:lnTo>
                <a:lnTo>
                  <a:pt x="0" y="11308556"/>
                </a:lnTo>
                <a:lnTo>
                  <a:pt x="4795665" y="11308556"/>
                </a:lnTo>
                <a:lnTo>
                  <a:pt x="4795665" y="0"/>
                </a:lnTo>
                <a:close/>
              </a:path>
            </a:pathLst>
          </a:custGeom>
          <a:solidFill>
            <a:srgbClr val="000054"/>
          </a:solidFill>
        </p:spPr>
        <p:txBody>
          <a:bodyPr wrap="square" lIns="0" tIns="0" rIns="0" bIns="0" rtlCol="0"/>
          <a:lstStyle/>
          <a:p>
            <a:endParaRPr sz="1013" b="0" i="0">
              <a:latin typeface="Arial" panose="020B0604020202020204" pitchFamily="34" charset="0"/>
            </a:endParaRPr>
          </a:p>
        </p:txBody>
      </p:sp>
      <p:sp>
        <p:nvSpPr>
          <p:cNvPr id="9" name="object 18">
            <a:extLst>
              <a:ext uri="{FF2B5EF4-FFF2-40B4-BE49-F238E27FC236}">
                <a16:creationId xmlns:a16="http://schemas.microsoft.com/office/drawing/2014/main" id="{3D41FB27-DC2C-D146-8DD0-8451E51FC25F}"/>
              </a:ext>
            </a:extLst>
          </p:cNvPr>
          <p:cNvSpPr/>
          <p:nvPr userDrawn="1"/>
        </p:nvSpPr>
        <p:spPr>
          <a:xfrm>
            <a:off x="245328" y="214141"/>
            <a:ext cx="1930436" cy="57185"/>
          </a:xfrm>
          <a:custGeom>
            <a:avLst/>
            <a:gdLst/>
            <a:ahLst/>
            <a:cxnLst/>
            <a:rect l="l" t="t" r="r" b="b"/>
            <a:pathLst>
              <a:path w="4244340" h="125730">
                <a:moveTo>
                  <a:pt x="4243734" y="0"/>
                </a:moveTo>
                <a:lnTo>
                  <a:pt x="0" y="0"/>
                </a:lnTo>
                <a:lnTo>
                  <a:pt x="0" y="125650"/>
                </a:lnTo>
                <a:lnTo>
                  <a:pt x="4243734" y="125650"/>
                </a:lnTo>
                <a:lnTo>
                  <a:pt x="4243734" y="0"/>
                </a:lnTo>
                <a:close/>
              </a:path>
            </a:pathLst>
          </a:custGeom>
          <a:solidFill>
            <a:srgbClr val="E61E2A"/>
          </a:solidFill>
        </p:spPr>
        <p:txBody>
          <a:bodyPr wrap="square" lIns="0" tIns="0" rIns="0" bIns="0" rtlCol="0"/>
          <a:lstStyle/>
          <a:p>
            <a:endParaRPr sz="1013" b="0" i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9299B-E144-974E-B70F-C42B8E5D8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329" y="299901"/>
            <a:ext cx="1930436" cy="957094"/>
          </a:xfrm>
        </p:spPr>
        <p:txBody>
          <a:bodyPr lIns="0"/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en-GB"/>
              <a:t>Heading here</a:t>
            </a:r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E11BC6D-9111-9A43-BDD3-A8D93FAFAA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5329" y="1256995"/>
            <a:ext cx="1930435" cy="3424336"/>
          </a:xfrm>
        </p:spPr>
        <p:txBody>
          <a:bodyPr lIns="0"/>
          <a:lstStyle>
            <a:lvl1pPr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381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_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389B6B7A-C2B8-BA4D-ABD2-4BE87C2CAB4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421091" y="0"/>
            <a:ext cx="6722909" cy="51435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AB63F385-83EE-DF49-B0AA-EEF39BBEF0FF}"/>
              </a:ext>
            </a:extLst>
          </p:cNvPr>
          <p:cNvSpPr/>
          <p:nvPr userDrawn="1"/>
        </p:nvSpPr>
        <p:spPr>
          <a:xfrm>
            <a:off x="0" y="1"/>
            <a:ext cx="2421092" cy="5143500"/>
          </a:xfrm>
          <a:custGeom>
            <a:avLst/>
            <a:gdLst/>
            <a:ahLst/>
            <a:cxnLst/>
            <a:rect l="l" t="t" r="r" b="b"/>
            <a:pathLst>
              <a:path w="4796155" h="11308715">
                <a:moveTo>
                  <a:pt x="4795665" y="0"/>
                </a:moveTo>
                <a:lnTo>
                  <a:pt x="0" y="0"/>
                </a:lnTo>
                <a:lnTo>
                  <a:pt x="0" y="11308556"/>
                </a:lnTo>
                <a:lnTo>
                  <a:pt x="4795665" y="11308556"/>
                </a:lnTo>
                <a:lnTo>
                  <a:pt x="4795665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sz="1013" b="0" i="0">
              <a:latin typeface="Arial" panose="020B0604020202020204" pitchFamily="34" charset="0"/>
            </a:endParaRPr>
          </a:p>
        </p:txBody>
      </p:sp>
      <p:sp>
        <p:nvSpPr>
          <p:cNvPr id="9" name="object 18">
            <a:extLst>
              <a:ext uri="{FF2B5EF4-FFF2-40B4-BE49-F238E27FC236}">
                <a16:creationId xmlns:a16="http://schemas.microsoft.com/office/drawing/2014/main" id="{3D41FB27-DC2C-D146-8DD0-8451E51FC25F}"/>
              </a:ext>
            </a:extLst>
          </p:cNvPr>
          <p:cNvSpPr/>
          <p:nvPr userDrawn="1"/>
        </p:nvSpPr>
        <p:spPr>
          <a:xfrm>
            <a:off x="245328" y="214141"/>
            <a:ext cx="1930436" cy="57185"/>
          </a:xfrm>
          <a:custGeom>
            <a:avLst/>
            <a:gdLst/>
            <a:ahLst/>
            <a:cxnLst/>
            <a:rect l="l" t="t" r="r" b="b"/>
            <a:pathLst>
              <a:path w="4244340" h="125730">
                <a:moveTo>
                  <a:pt x="4243734" y="0"/>
                </a:moveTo>
                <a:lnTo>
                  <a:pt x="0" y="0"/>
                </a:lnTo>
                <a:lnTo>
                  <a:pt x="0" y="125650"/>
                </a:lnTo>
                <a:lnTo>
                  <a:pt x="4243734" y="125650"/>
                </a:lnTo>
                <a:lnTo>
                  <a:pt x="4243734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1013" b="0" i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9299B-E144-974E-B70F-C42B8E5D8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329" y="299901"/>
            <a:ext cx="1930436" cy="957094"/>
          </a:xfrm>
        </p:spPr>
        <p:txBody>
          <a:bodyPr lIns="0"/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en-GB"/>
              <a:t>Heading here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B012C-14A6-A246-9A24-F124CB1A9F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5329" y="1256995"/>
            <a:ext cx="1930435" cy="3424336"/>
          </a:xfrm>
        </p:spPr>
        <p:txBody>
          <a:bodyPr lIns="0"/>
          <a:lstStyle>
            <a:lvl1pPr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0886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8">
            <a:extLst>
              <a:ext uri="{FF2B5EF4-FFF2-40B4-BE49-F238E27FC236}">
                <a16:creationId xmlns:a16="http://schemas.microsoft.com/office/drawing/2014/main" id="{3D41FB27-DC2C-D146-8DD0-8451E51FC25F}"/>
              </a:ext>
            </a:extLst>
          </p:cNvPr>
          <p:cNvSpPr/>
          <p:nvPr userDrawn="1"/>
        </p:nvSpPr>
        <p:spPr>
          <a:xfrm>
            <a:off x="245328" y="214141"/>
            <a:ext cx="1930436" cy="57185"/>
          </a:xfrm>
          <a:custGeom>
            <a:avLst/>
            <a:gdLst/>
            <a:ahLst/>
            <a:cxnLst/>
            <a:rect l="l" t="t" r="r" b="b"/>
            <a:pathLst>
              <a:path w="4244340" h="125730">
                <a:moveTo>
                  <a:pt x="4243734" y="0"/>
                </a:moveTo>
                <a:lnTo>
                  <a:pt x="0" y="0"/>
                </a:lnTo>
                <a:lnTo>
                  <a:pt x="0" y="125650"/>
                </a:lnTo>
                <a:lnTo>
                  <a:pt x="4243734" y="125650"/>
                </a:lnTo>
                <a:lnTo>
                  <a:pt x="4243734" y="0"/>
                </a:lnTo>
                <a:close/>
              </a:path>
            </a:pathLst>
          </a:custGeom>
          <a:solidFill>
            <a:srgbClr val="E61E2A"/>
          </a:solidFill>
        </p:spPr>
        <p:txBody>
          <a:bodyPr wrap="square" lIns="0" tIns="0" rIns="0" bIns="0" rtlCol="0"/>
          <a:lstStyle/>
          <a:p>
            <a:endParaRPr sz="1013" b="0" i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9299B-E144-974E-B70F-C42B8E5D8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29" y="299902"/>
            <a:ext cx="8665025" cy="785439"/>
          </a:xfrm>
        </p:spPr>
        <p:txBody>
          <a:bodyPr lIns="0"/>
          <a:lstStyle>
            <a:lvl1pPr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E967A21-E4C6-4743-ACC9-BD2F503384D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7911" y="4568428"/>
            <a:ext cx="502444" cy="502444"/>
          </a:xfrm>
          <a:prstGeom prst="rect">
            <a:avLst/>
          </a:prstGeom>
        </p:spPr>
      </p:pic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8295E6EF-78C3-184E-8D3A-0A68BCEB7FB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0988" y="1331226"/>
            <a:ext cx="2658155" cy="2290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GB" noProof="0"/>
              <a:t>Click image icon to add picture</a:t>
            </a:r>
            <a:endParaRPr lang="en-US" noProof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2E673F1-9DCD-BD4B-9DA0-BD1EBDC6D3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0988" y="3771900"/>
            <a:ext cx="2658155" cy="720661"/>
          </a:xfrm>
        </p:spPr>
        <p:txBody>
          <a:bodyPr/>
          <a:lstStyle>
            <a:lvl1pPr>
              <a:defRPr sz="10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10E6100E-909D-ED45-A000-A54CC6F4E21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75240" y="1331226"/>
            <a:ext cx="2658155" cy="2290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GB" noProof="0"/>
              <a:t>Click image icon to add picture</a:t>
            </a:r>
            <a:endParaRPr lang="en-US" noProof="0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3B3D8BF2-79EB-D84A-8A2E-D9009D4436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75240" y="3771900"/>
            <a:ext cx="2658155" cy="720661"/>
          </a:xfrm>
        </p:spPr>
        <p:txBody>
          <a:bodyPr/>
          <a:lstStyle>
            <a:lvl1pPr>
              <a:defRPr sz="10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90EFFE35-D877-BA49-BBE4-5F5DFA8DFCB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269492" y="1331226"/>
            <a:ext cx="2658155" cy="2290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GB" noProof="0"/>
              <a:t>Click image icon to add picture</a:t>
            </a:r>
            <a:endParaRPr lang="en-US" noProof="0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A6FAC8FD-639B-DE43-8442-8D0B3FBDAB7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69492" y="3771900"/>
            <a:ext cx="2658155" cy="720661"/>
          </a:xfrm>
        </p:spPr>
        <p:txBody>
          <a:bodyPr/>
          <a:lstStyle>
            <a:lvl1pPr>
              <a:defRPr sz="10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1872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8">
            <a:extLst>
              <a:ext uri="{FF2B5EF4-FFF2-40B4-BE49-F238E27FC236}">
                <a16:creationId xmlns:a16="http://schemas.microsoft.com/office/drawing/2014/main" id="{3D41FB27-DC2C-D146-8DD0-8451E51FC25F}"/>
              </a:ext>
            </a:extLst>
          </p:cNvPr>
          <p:cNvSpPr/>
          <p:nvPr userDrawn="1"/>
        </p:nvSpPr>
        <p:spPr>
          <a:xfrm>
            <a:off x="245328" y="214141"/>
            <a:ext cx="1930436" cy="57185"/>
          </a:xfrm>
          <a:custGeom>
            <a:avLst/>
            <a:gdLst/>
            <a:ahLst/>
            <a:cxnLst/>
            <a:rect l="l" t="t" r="r" b="b"/>
            <a:pathLst>
              <a:path w="4244340" h="125730">
                <a:moveTo>
                  <a:pt x="4243734" y="0"/>
                </a:moveTo>
                <a:lnTo>
                  <a:pt x="0" y="0"/>
                </a:lnTo>
                <a:lnTo>
                  <a:pt x="0" y="125650"/>
                </a:lnTo>
                <a:lnTo>
                  <a:pt x="4243734" y="125650"/>
                </a:lnTo>
                <a:lnTo>
                  <a:pt x="4243734" y="0"/>
                </a:lnTo>
                <a:close/>
              </a:path>
            </a:pathLst>
          </a:custGeom>
          <a:solidFill>
            <a:srgbClr val="E61E2A"/>
          </a:solidFill>
        </p:spPr>
        <p:txBody>
          <a:bodyPr wrap="square" lIns="0" tIns="0" rIns="0" bIns="0" rtlCol="0"/>
          <a:lstStyle/>
          <a:p>
            <a:endParaRPr sz="1013" b="0" i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9299B-E144-974E-B70F-C42B8E5D8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29" y="299902"/>
            <a:ext cx="8665025" cy="785439"/>
          </a:xfrm>
        </p:spPr>
        <p:txBody>
          <a:bodyPr lIns="0"/>
          <a:lstStyle>
            <a:lvl1pPr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E967A21-E4C6-4743-ACC9-BD2F503384D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7911" y="4568428"/>
            <a:ext cx="502444" cy="502444"/>
          </a:xfrm>
          <a:prstGeom prst="rect">
            <a:avLst/>
          </a:prstGeom>
        </p:spPr>
      </p:pic>
      <p:sp>
        <p:nvSpPr>
          <p:cNvPr id="11" name="Chart Placeholder 3">
            <a:extLst>
              <a:ext uri="{FF2B5EF4-FFF2-40B4-BE49-F238E27FC236}">
                <a16:creationId xmlns:a16="http://schemas.microsoft.com/office/drawing/2014/main" id="{F5852E90-9D40-2144-B8BF-8B9A2668693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265740" y="1331226"/>
            <a:ext cx="8644613" cy="3089735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6106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8">
            <a:extLst>
              <a:ext uri="{FF2B5EF4-FFF2-40B4-BE49-F238E27FC236}">
                <a16:creationId xmlns:a16="http://schemas.microsoft.com/office/drawing/2014/main" id="{3D41FB27-DC2C-D146-8DD0-8451E51FC25F}"/>
              </a:ext>
            </a:extLst>
          </p:cNvPr>
          <p:cNvSpPr/>
          <p:nvPr userDrawn="1"/>
        </p:nvSpPr>
        <p:spPr>
          <a:xfrm>
            <a:off x="245328" y="214141"/>
            <a:ext cx="1930436" cy="57185"/>
          </a:xfrm>
          <a:custGeom>
            <a:avLst/>
            <a:gdLst/>
            <a:ahLst/>
            <a:cxnLst/>
            <a:rect l="l" t="t" r="r" b="b"/>
            <a:pathLst>
              <a:path w="4244340" h="125730">
                <a:moveTo>
                  <a:pt x="4243734" y="0"/>
                </a:moveTo>
                <a:lnTo>
                  <a:pt x="0" y="0"/>
                </a:lnTo>
                <a:lnTo>
                  <a:pt x="0" y="125650"/>
                </a:lnTo>
                <a:lnTo>
                  <a:pt x="4243734" y="125650"/>
                </a:lnTo>
                <a:lnTo>
                  <a:pt x="4243734" y="0"/>
                </a:lnTo>
                <a:close/>
              </a:path>
            </a:pathLst>
          </a:custGeom>
          <a:solidFill>
            <a:srgbClr val="E61E2A"/>
          </a:solidFill>
        </p:spPr>
        <p:txBody>
          <a:bodyPr wrap="square" lIns="0" tIns="0" rIns="0" bIns="0" rtlCol="0"/>
          <a:lstStyle/>
          <a:p>
            <a:endParaRPr sz="1013" b="0" i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9299B-E144-974E-B70F-C42B8E5D8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29" y="299902"/>
            <a:ext cx="8665025" cy="785439"/>
          </a:xfrm>
        </p:spPr>
        <p:txBody>
          <a:bodyPr lIns="0"/>
          <a:lstStyle>
            <a:lvl1pPr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E967A21-E4C6-4743-ACC9-BD2F503384D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7911" y="4568428"/>
            <a:ext cx="502444" cy="502444"/>
          </a:xfrm>
          <a:prstGeom prst="rect">
            <a:avLst/>
          </a:prstGeom>
        </p:spPr>
      </p:pic>
      <p:sp>
        <p:nvSpPr>
          <p:cNvPr id="7" name="Table Placeholder 5">
            <a:extLst>
              <a:ext uri="{FF2B5EF4-FFF2-40B4-BE49-F238E27FC236}">
                <a16:creationId xmlns:a16="http://schemas.microsoft.com/office/drawing/2014/main" id="{DEFAF64F-58A7-6241-B8C3-623736293F2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265739" y="1331226"/>
            <a:ext cx="8644614" cy="3089735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70B680-A2D2-E94C-B28C-A6E54778C0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0988" y="4546592"/>
            <a:ext cx="5915025" cy="120254"/>
          </a:xfrm>
        </p:spPr>
        <p:txBody>
          <a:bodyPr/>
          <a:lstStyle>
            <a:lvl1pPr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5736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AB63F385-83EE-DF49-B0AA-EEF39BBEF0FF}"/>
              </a:ext>
            </a:extLst>
          </p:cNvPr>
          <p:cNvSpPr/>
          <p:nvPr userDrawn="1"/>
        </p:nvSpPr>
        <p:spPr>
          <a:xfrm>
            <a:off x="0" y="1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4796155" h="11308715">
                <a:moveTo>
                  <a:pt x="4795665" y="0"/>
                </a:moveTo>
                <a:lnTo>
                  <a:pt x="0" y="0"/>
                </a:lnTo>
                <a:lnTo>
                  <a:pt x="0" y="11308556"/>
                </a:lnTo>
                <a:lnTo>
                  <a:pt x="4795665" y="11308556"/>
                </a:lnTo>
                <a:lnTo>
                  <a:pt x="4795665" y="0"/>
                </a:lnTo>
                <a:close/>
              </a:path>
            </a:pathLst>
          </a:custGeom>
          <a:solidFill>
            <a:srgbClr val="000054"/>
          </a:solidFill>
        </p:spPr>
        <p:txBody>
          <a:bodyPr wrap="square" lIns="0" tIns="0" rIns="0" bIns="0" rtlCol="0"/>
          <a:lstStyle/>
          <a:p>
            <a:endParaRPr sz="1013" b="0" i="0">
              <a:latin typeface="Arial" panose="020B0604020202020204" pitchFamily="34" charset="0"/>
            </a:endParaRPr>
          </a:p>
        </p:txBody>
      </p:sp>
      <p:sp>
        <p:nvSpPr>
          <p:cNvPr id="9" name="object 18">
            <a:extLst>
              <a:ext uri="{FF2B5EF4-FFF2-40B4-BE49-F238E27FC236}">
                <a16:creationId xmlns:a16="http://schemas.microsoft.com/office/drawing/2014/main" id="{3D41FB27-DC2C-D146-8DD0-8451E51FC25F}"/>
              </a:ext>
            </a:extLst>
          </p:cNvPr>
          <p:cNvSpPr/>
          <p:nvPr userDrawn="1"/>
        </p:nvSpPr>
        <p:spPr>
          <a:xfrm>
            <a:off x="245328" y="214141"/>
            <a:ext cx="1930436" cy="57185"/>
          </a:xfrm>
          <a:custGeom>
            <a:avLst/>
            <a:gdLst/>
            <a:ahLst/>
            <a:cxnLst/>
            <a:rect l="l" t="t" r="r" b="b"/>
            <a:pathLst>
              <a:path w="4244340" h="125730">
                <a:moveTo>
                  <a:pt x="4243734" y="0"/>
                </a:moveTo>
                <a:lnTo>
                  <a:pt x="0" y="0"/>
                </a:lnTo>
                <a:lnTo>
                  <a:pt x="0" y="125650"/>
                </a:lnTo>
                <a:lnTo>
                  <a:pt x="4243734" y="125650"/>
                </a:lnTo>
                <a:lnTo>
                  <a:pt x="4243734" y="0"/>
                </a:lnTo>
                <a:close/>
              </a:path>
            </a:pathLst>
          </a:custGeom>
          <a:solidFill>
            <a:srgbClr val="E61E2A"/>
          </a:solidFill>
        </p:spPr>
        <p:txBody>
          <a:bodyPr wrap="square" lIns="0" tIns="0" rIns="0" bIns="0" rtlCol="0"/>
          <a:lstStyle/>
          <a:p>
            <a:endParaRPr sz="1013" b="0" i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9299B-E144-974E-B70F-C42B8E5D8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329" y="299902"/>
            <a:ext cx="1930436" cy="994172"/>
          </a:xfrm>
        </p:spPr>
        <p:txBody>
          <a:bodyPr lIns="0"/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en-GB"/>
              <a:t>Heading</a:t>
            </a:r>
            <a:endParaRPr lang="en-US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EB78C3AA-166A-6F4E-9E52-DBCB13135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62250" y="299901"/>
            <a:ext cx="5950354" cy="4280435"/>
          </a:xfrm>
        </p:spPr>
        <p:txBody>
          <a:bodyPr lIns="0"/>
          <a:lstStyle>
            <a:lvl1pPr>
              <a:spcAft>
                <a:spcPts val="1200"/>
              </a:spcAft>
              <a:defRPr sz="2100" b="1">
                <a:solidFill>
                  <a:schemeClr val="bg1"/>
                </a:solidFill>
              </a:defRPr>
            </a:lvl1pPr>
            <a:lvl2pPr marL="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B2A923C-C478-D842-BDF6-F9E91C36FC2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7911" y="4568428"/>
            <a:ext cx="502444" cy="50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2522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_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AB63F385-83EE-DF49-B0AA-EEF39BBEF0FF}"/>
              </a:ext>
            </a:extLst>
          </p:cNvPr>
          <p:cNvSpPr/>
          <p:nvPr userDrawn="1"/>
        </p:nvSpPr>
        <p:spPr>
          <a:xfrm>
            <a:off x="0" y="1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4796155" h="11308715">
                <a:moveTo>
                  <a:pt x="4795665" y="0"/>
                </a:moveTo>
                <a:lnTo>
                  <a:pt x="0" y="0"/>
                </a:lnTo>
                <a:lnTo>
                  <a:pt x="0" y="11308556"/>
                </a:lnTo>
                <a:lnTo>
                  <a:pt x="4795665" y="11308556"/>
                </a:lnTo>
                <a:lnTo>
                  <a:pt x="4795665" y="0"/>
                </a:lnTo>
                <a:close/>
              </a:path>
            </a:pathLst>
          </a:custGeom>
          <a:solidFill>
            <a:srgbClr val="000054"/>
          </a:solidFill>
        </p:spPr>
        <p:txBody>
          <a:bodyPr wrap="square" lIns="0" tIns="0" rIns="0" bIns="0" rtlCol="0"/>
          <a:lstStyle/>
          <a:p>
            <a:endParaRPr sz="1013" b="0" i="0">
              <a:latin typeface="Arial" panose="020B0604020202020204" pitchFamily="34" charset="0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EB78C3AA-166A-6F4E-9E52-DBCB131356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3646" y="299901"/>
            <a:ext cx="8478958" cy="4195898"/>
          </a:xfrm>
        </p:spPr>
        <p:txBody>
          <a:bodyPr lIns="0" anchor="ctr" anchorCtr="0"/>
          <a:lstStyle>
            <a:lvl1pPr>
              <a:spcAft>
                <a:spcPts val="1200"/>
              </a:spcAft>
              <a:defRPr sz="3600" b="1">
                <a:solidFill>
                  <a:schemeClr val="bg1"/>
                </a:solidFill>
              </a:defRPr>
            </a:lvl1pPr>
            <a:lvl2pPr marL="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/>
              <a:t>Section divider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B2A923C-C478-D842-BDF6-F9E91C36FC2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7911" y="4568428"/>
            <a:ext cx="502444" cy="50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6647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_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AB63F385-83EE-DF49-B0AA-EEF39BBEF0FF}"/>
              </a:ext>
            </a:extLst>
          </p:cNvPr>
          <p:cNvSpPr/>
          <p:nvPr userDrawn="1"/>
        </p:nvSpPr>
        <p:spPr>
          <a:xfrm>
            <a:off x="0" y="1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4796155" h="11308715">
                <a:moveTo>
                  <a:pt x="4795665" y="0"/>
                </a:moveTo>
                <a:lnTo>
                  <a:pt x="0" y="0"/>
                </a:lnTo>
                <a:lnTo>
                  <a:pt x="0" y="11308556"/>
                </a:lnTo>
                <a:lnTo>
                  <a:pt x="4795665" y="11308556"/>
                </a:lnTo>
                <a:lnTo>
                  <a:pt x="4795665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sz="1013" b="0" i="0">
              <a:latin typeface="Arial" panose="020B06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701ACE1-B495-DC44-BF21-745EC325F5E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7911" y="4568428"/>
            <a:ext cx="502444" cy="502444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34FEC52-F95C-D149-9811-8FC8F0BE63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3646" y="299901"/>
            <a:ext cx="8478958" cy="4195898"/>
          </a:xfrm>
        </p:spPr>
        <p:txBody>
          <a:bodyPr lIns="0" anchor="ctr" anchorCtr="0"/>
          <a:lstStyle>
            <a:lvl1pPr>
              <a:spcAft>
                <a:spcPts val="1200"/>
              </a:spcAft>
              <a:defRPr sz="3600" b="1">
                <a:solidFill>
                  <a:schemeClr val="bg1"/>
                </a:solidFill>
              </a:defRPr>
            </a:lvl1pPr>
            <a:lvl2pPr marL="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/>
              <a:t>Section divider text</a:t>
            </a:r>
          </a:p>
        </p:txBody>
      </p:sp>
    </p:spTree>
    <p:extLst>
      <p:ext uri="{BB962C8B-B14F-4D97-AF65-F5344CB8AC3E}">
        <p14:creationId xmlns:p14="http://schemas.microsoft.com/office/powerpoint/2010/main" val="2275074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AB63F385-83EE-DF49-B0AA-EEF39BBEF0FF}"/>
              </a:ext>
            </a:extLst>
          </p:cNvPr>
          <p:cNvSpPr/>
          <p:nvPr userDrawn="1"/>
        </p:nvSpPr>
        <p:spPr>
          <a:xfrm>
            <a:off x="0" y="1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4796155" h="11308715">
                <a:moveTo>
                  <a:pt x="4795665" y="0"/>
                </a:moveTo>
                <a:lnTo>
                  <a:pt x="0" y="0"/>
                </a:lnTo>
                <a:lnTo>
                  <a:pt x="0" y="11308556"/>
                </a:lnTo>
                <a:lnTo>
                  <a:pt x="4795665" y="11308556"/>
                </a:lnTo>
                <a:lnTo>
                  <a:pt x="4795665" y="0"/>
                </a:lnTo>
                <a:close/>
              </a:path>
            </a:pathLst>
          </a:custGeom>
          <a:solidFill>
            <a:srgbClr val="000054"/>
          </a:solidFill>
        </p:spPr>
        <p:txBody>
          <a:bodyPr wrap="square" lIns="0" tIns="0" rIns="0" bIns="0" rtlCol="0"/>
          <a:lstStyle/>
          <a:p>
            <a:endParaRPr sz="1013" b="0" i="0"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EC15CCA-163A-5A4D-A3D8-60201F5ED3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557" y="230189"/>
            <a:ext cx="8430423" cy="131353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400">
                <a:solidFill>
                  <a:schemeClr val="accent2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247B6-696E-A4CC-92B5-23186D7BA164}"/>
              </a:ext>
            </a:extLst>
          </p:cNvPr>
          <p:cNvSpPr txBox="1"/>
          <p:nvPr userDrawn="1"/>
        </p:nvSpPr>
        <p:spPr>
          <a:xfrm>
            <a:off x="7566311" y="4922502"/>
            <a:ext cx="1674047" cy="169277"/>
          </a:xfrm>
          <a:prstGeom prst="rect">
            <a:avLst/>
          </a:prstGeom>
          <a:noFill/>
        </p:spPr>
        <p:txBody>
          <a:bodyPr vert="horz" wrap="square" lIns="0" tIns="45720" rIns="91440" bIns="45720" rtlCol="0" anchor="t" anchorCtr="0">
            <a:spAutoFit/>
          </a:bodyPr>
          <a:lstStyle/>
          <a:p>
            <a:r>
              <a:rPr lang="en-AU" sz="500" b="0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CRICOS provider number: 00122A | RTO Code: 3046</a:t>
            </a:r>
          </a:p>
        </p:txBody>
      </p:sp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7535078-5656-A8F1-8EC8-4EC17DB6EF3D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3" y="4386221"/>
            <a:ext cx="2534577" cy="74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911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798" y="187525"/>
            <a:ext cx="8773225" cy="99417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799" y="1191718"/>
            <a:ext cx="8773224" cy="318966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32222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2" r:id="rId2"/>
    <p:sldLayoutId id="2147483881" r:id="rId3"/>
    <p:sldLayoutId id="2147483880" r:id="rId4"/>
    <p:sldLayoutId id="2147483863" r:id="rId5"/>
    <p:sldLayoutId id="2147483882" r:id="rId6"/>
    <p:sldLayoutId id="2147483883" r:id="rId7"/>
    <p:sldLayoutId id="2147483879" r:id="rId8"/>
    <p:sldLayoutId id="2147483868" r:id="rId9"/>
    <p:sldLayoutId id="2147483870" r:id="rId10"/>
    <p:sldLayoutId id="2147483869" r:id="rId11"/>
    <p:sldLayoutId id="2147483871" r:id="rId12"/>
    <p:sldLayoutId id="2147483886" r:id="rId13"/>
    <p:sldLayoutId id="2147483887" r:id="rId14"/>
    <p:sldLayoutId id="2147483888" r:id="rId15"/>
    <p:sldLayoutId id="2147483874" r:id="rId16"/>
    <p:sldLayoutId id="2147483889" r:id="rId17"/>
    <p:sldLayoutId id="2147483875" r:id="rId18"/>
    <p:sldLayoutId id="2147483890" r:id="rId19"/>
  </p:sldLayoutIdLs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000" b="1" kern="1200" baseline="0">
          <a:solidFill>
            <a:srgbClr val="000054"/>
          </a:solidFill>
          <a:latin typeface="+mj-lt"/>
          <a:ea typeface="+mj-ea"/>
          <a:cs typeface="+mj-cs"/>
        </a:defRPr>
      </a:lvl1pPr>
    </p:titleStyle>
    <p:bodyStyle>
      <a:lvl1pPr marL="0" indent="0" algn="l" defTabSz="685783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177796" indent="-177796" algn="l" defTabSz="685783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2"/>
        </a:buClr>
        <a:buFont typeface="Wingdings" pitchFamily="2" charset="2"/>
        <a:buChar char="§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55591" indent="-177796" algn="l" defTabSz="685783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2"/>
        </a:buClr>
        <a:buFont typeface="Wingdings" pitchFamily="2" charset="2"/>
        <a:buChar char="§"/>
        <a:tabLst/>
        <a:defRPr lang="en-US" sz="1800" kern="12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355591" indent="-177796" algn="l" defTabSz="685783" rtl="0" eaLnBrk="1" latinLnBrk="0" hangingPunct="1">
        <a:lnSpc>
          <a:spcPct val="90000"/>
        </a:lnSpc>
        <a:spcBef>
          <a:spcPts val="375"/>
        </a:spcBef>
        <a:buClr>
          <a:schemeClr val="accent4"/>
        </a:buClr>
        <a:buFont typeface="Wingdings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355591" indent="-17779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301C4-6B45-FA3F-E2F4-071EAD48D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557" y="869818"/>
            <a:ext cx="8430423" cy="1313530"/>
          </a:xfrm>
        </p:spPr>
        <p:txBody>
          <a:bodyPr/>
          <a:lstStyle/>
          <a:p>
            <a:r>
              <a:rPr lang="en-US" sz="6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GCMC</a:t>
            </a:r>
            <a:br>
              <a:rPr lang="en-US" sz="4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Workload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307BC-B323-BCAA-78BC-687C36960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557" y="2351241"/>
            <a:ext cx="8430423" cy="1056952"/>
          </a:xfrm>
        </p:spPr>
        <p:txBody>
          <a:bodyPr/>
          <a:lstStyle/>
          <a:p>
            <a:r>
              <a:rPr lang="en-US"/>
              <a:t>Usage and migration guide</a:t>
            </a:r>
          </a:p>
          <a:p>
            <a:r>
              <a:rPr lang="en-US" sz="1000" b="0"/>
              <a:t>For GCMC’s manager + functions teams (design, production and contents)</a:t>
            </a:r>
          </a:p>
        </p:txBody>
      </p:sp>
    </p:spTree>
    <p:extLst>
      <p:ext uri="{BB962C8B-B14F-4D97-AF65-F5344CB8AC3E}">
        <p14:creationId xmlns:p14="http://schemas.microsoft.com/office/powerpoint/2010/main" val="2838075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C360F6-9A65-B305-E26C-05748C65A1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708" y="791821"/>
            <a:ext cx="2174846" cy="613562"/>
          </a:xfrm>
        </p:spPr>
        <p:txBody>
          <a:bodyPr/>
          <a:lstStyle/>
          <a:p>
            <a:r>
              <a:rPr lang="en-US">
                <a:highlight>
                  <a:srgbClr val="000054"/>
                </a:highlight>
              </a:rPr>
              <a:t>What is it</a:t>
            </a:r>
          </a:p>
          <a:p>
            <a:endParaRPr lang="en-US">
              <a:cs typeface="Arial" panose="020B0604020202020204"/>
            </a:endParaRPr>
          </a:p>
          <a:p>
            <a:endParaRPr lang="en-AU">
              <a:cs typeface="Arial" panose="020B060402020202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4C36A3-9AB7-8416-D5A8-0A6F9AA68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298" y="547234"/>
            <a:ext cx="6410402" cy="3749432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D75CD8AF-3137-ADE8-CCEF-7D9257135833}"/>
              </a:ext>
            </a:extLst>
          </p:cNvPr>
          <p:cNvSpPr txBox="1">
            <a:spLocks/>
          </p:cNvSpPr>
          <p:nvPr/>
        </p:nvSpPr>
        <p:spPr>
          <a:xfrm>
            <a:off x="288285" y="1480248"/>
            <a:ext cx="2432394" cy="260020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2700" b="1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892" indent="0" algn="ctr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None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None/>
              <a:tabLst/>
              <a:defRPr lang="en-US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4"/>
              </a:buClr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shared system of record for GCMC's workload — Vietnam Design, Melbourne Design, Production and Content all log into 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task captures its work types, asset counts and timeline.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dashboard turns that into live charts — by squad, campaign, asset type, and time of year.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so stakeholders can see what's being delivered without asking.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sz="1000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580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29039-5A5E-6D96-C192-F01F06189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252560D-D627-FF9F-8DB8-411A583E4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708" y="372429"/>
            <a:ext cx="2174846" cy="613562"/>
          </a:xfrm>
        </p:spPr>
        <p:txBody>
          <a:bodyPr/>
          <a:lstStyle/>
          <a:p>
            <a:r>
              <a:rPr lang="en-US">
                <a:highlight>
                  <a:srgbClr val="000054"/>
                </a:highlight>
              </a:rPr>
              <a:t>Dashboard</a:t>
            </a:r>
          </a:p>
          <a:p>
            <a:r>
              <a:rPr lang="en-US">
                <a:highlight>
                  <a:srgbClr val="000054"/>
                </a:highlight>
              </a:rPr>
              <a:t>breakdown</a:t>
            </a:r>
          </a:p>
          <a:p>
            <a:endParaRPr lang="en-US">
              <a:cs typeface="Arial" panose="020B0604020202020204"/>
            </a:endParaRPr>
          </a:p>
          <a:p>
            <a:endParaRPr lang="en-AU">
              <a:cs typeface="Arial" panose="020B0604020202020204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F76B5C9C-37D3-5C02-6DD8-D2D18F857CC8}"/>
              </a:ext>
            </a:extLst>
          </p:cNvPr>
          <p:cNvSpPr txBox="1">
            <a:spLocks/>
          </p:cNvSpPr>
          <p:nvPr/>
        </p:nvSpPr>
        <p:spPr>
          <a:xfrm>
            <a:off x="387382" y="1764241"/>
            <a:ext cx="3094546" cy="260020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2700" b="1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892" indent="0" algn="ctr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None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None/>
              <a:tabLst/>
              <a:defRPr lang="en-US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4"/>
              </a:buClr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highlight>
                  <a:srgbClr val="000054"/>
                </a:highlight>
              </a:rPr>
              <a:t>Asset count</a:t>
            </a:r>
          </a:p>
          <a:p>
            <a:r>
              <a:rPr lang="en-US" sz="800" b="0"/>
              <a:t>Total deliverables produced — every asset, across every task, in the selected period.</a:t>
            </a:r>
          </a:p>
          <a:p>
            <a:r>
              <a:rPr lang="en-US" sz="1000">
                <a:highlight>
                  <a:srgbClr val="000054"/>
                </a:highlight>
              </a:rPr>
              <a:t>Task count</a:t>
            </a:r>
          </a:p>
          <a:p>
            <a:r>
              <a:rPr lang="en-US" sz="800" b="0"/>
              <a:t>How many tasks that workload came from, and how many campaigns they span.</a:t>
            </a:r>
          </a:p>
          <a:p>
            <a:r>
              <a:rPr lang="en-US" sz="1000">
                <a:highlight>
                  <a:srgbClr val="000054"/>
                </a:highlight>
              </a:rPr>
              <a:t>Tasks by squad</a:t>
            </a:r>
          </a:p>
          <a:p>
            <a:r>
              <a:rPr lang="en-US" sz="800" b="0"/>
              <a:t>Which stakeholder teams are asking for work — request volume per squad.</a:t>
            </a:r>
          </a:p>
          <a:p>
            <a:r>
              <a:rPr lang="en-US" sz="1000">
                <a:highlight>
                  <a:srgbClr val="000054"/>
                </a:highlight>
              </a:rPr>
              <a:t>Assets by squad</a:t>
            </a:r>
          </a:p>
          <a:p>
            <a:r>
              <a:rPr lang="en-US" sz="800" b="0"/>
              <a:t>What each squad actually received — deliverable volume, not just request count.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8EE377-B055-3039-A0C3-5D6310E25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335" y="1143377"/>
            <a:ext cx="4454885" cy="13698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F4C9D9-1F3B-9F64-F700-9F7809B53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335" y="2677967"/>
            <a:ext cx="4454885" cy="141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642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806C0-1FFF-25C8-1135-76D1A6431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02C759A-09E1-3756-D2D5-4881CB5F1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708" y="372429"/>
            <a:ext cx="2174846" cy="613562"/>
          </a:xfrm>
        </p:spPr>
        <p:txBody>
          <a:bodyPr/>
          <a:lstStyle/>
          <a:p>
            <a:r>
              <a:rPr lang="en-US">
                <a:highlight>
                  <a:srgbClr val="000054"/>
                </a:highlight>
              </a:rPr>
              <a:t>Dashboard</a:t>
            </a:r>
          </a:p>
          <a:p>
            <a:r>
              <a:rPr lang="en-US">
                <a:highlight>
                  <a:srgbClr val="000054"/>
                </a:highlight>
              </a:rPr>
              <a:t>breakdown</a:t>
            </a:r>
          </a:p>
          <a:p>
            <a:endParaRPr lang="en-US">
              <a:cs typeface="Arial" panose="020B0604020202020204"/>
            </a:endParaRPr>
          </a:p>
          <a:p>
            <a:endParaRPr lang="en-AU">
              <a:cs typeface="Arial" panose="020B0604020202020204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5ADDAA4-68D4-839B-BA85-D2E3C3E70BBE}"/>
              </a:ext>
            </a:extLst>
          </p:cNvPr>
          <p:cNvSpPr txBox="1">
            <a:spLocks/>
          </p:cNvSpPr>
          <p:nvPr/>
        </p:nvSpPr>
        <p:spPr>
          <a:xfrm>
            <a:off x="387382" y="1764241"/>
            <a:ext cx="3094546" cy="260020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2700" b="1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892" indent="0" algn="ctr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None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None/>
              <a:tabLst/>
              <a:defRPr lang="en-US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4"/>
              </a:buClr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highlight>
                  <a:srgbClr val="000054"/>
                </a:highlight>
              </a:rPr>
              <a:t>Asset mix</a:t>
            </a:r>
          </a:p>
          <a:p>
            <a:r>
              <a:rPr lang="en-US" sz="800" b="0"/>
              <a:t>The breakdown of what was produced — statics, display ads, video, print — as a share of the total.</a:t>
            </a:r>
          </a:p>
          <a:p>
            <a:endParaRPr lang="en-US" sz="800" b="0"/>
          </a:p>
          <a:p>
            <a:r>
              <a:rPr lang="en-US" sz="1000">
                <a:highlight>
                  <a:srgbClr val="000054"/>
                </a:highlight>
              </a:rPr>
              <a:t>Work type mix</a:t>
            </a:r>
          </a:p>
          <a:p>
            <a:r>
              <a:rPr lang="en-US" sz="800" b="0"/>
              <a:t>The breakdown of what kind of work it took to get there — editing, design, concepting — not just outputs.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5A76FD-9770-DEC6-88BB-607C54143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950" y="1716190"/>
            <a:ext cx="5199472" cy="184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50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A5B7A-D7B6-C073-1E83-F6AA095C4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C3103A4-E597-61BA-26C7-8C886D637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308" y="342233"/>
            <a:ext cx="4961488" cy="20180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79CA132-529E-751A-F4E1-B27731041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308" y="2429915"/>
            <a:ext cx="4958670" cy="220064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2D69F2AF-2002-6B4A-E4ED-2664B0BD401F}"/>
              </a:ext>
            </a:extLst>
          </p:cNvPr>
          <p:cNvSpPr txBox="1">
            <a:spLocks/>
          </p:cNvSpPr>
          <p:nvPr/>
        </p:nvSpPr>
        <p:spPr>
          <a:xfrm>
            <a:off x="419708" y="372429"/>
            <a:ext cx="2174846" cy="6135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2700" b="1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892" indent="0" algn="ctr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None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None/>
              <a:tabLst/>
              <a:defRPr lang="en-US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4"/>
              </a:buClr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highlight>
                  <a:srgbClr val="000054"/>
                </a:highlight>
              </a:rPr>
              <a:t>Dashboard</a:t>
            </a:r>
          </a:p>
          <a:p>
            <a:r>
              <a:rPr lang="en-US">
                <a:highlight>
                  <a:srgbClr val="000054"/>
                </a:highlight>
              </a:rPr>
              <a:t>breakdown</a:t>
            </a:r>
          </a:p>
          <a:p>
            <a:endParaRPr lang="en-US">
              <a:cs typeface="Arial" panose="020B0604020202020204"/>
            </a:endParaRPr>
          </a:p>
          <a:p>
            <a:endParaRPr lang="en-AU">
              <a:cs typeface="Arial" panose="020B0604020202020204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E65CD83-5DDC-000A-A16C-334C44DA3497}"/>
              </a:ext>
            </a:extLst>
          </p:cNvPr>
          <p:cNvSpPr txBox="1">
            <a:spLocks/>
          </p:cNvSpPr>
          <p:nvPr/>
        </p:nvSpPr>
        <p:spPr>
          <a:xfrm>
            <a:off x="387382" y="1764241"/>
            <a:ext cx="2427889" cy="260020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2700" b="1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892" indent="0" algn="ctr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None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None/>
              <a:tabLst/>
              <a:defRPr lang="en-US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4"/>
              </a:buClr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highlight>
                  <a:srgbClr val="000054"/>
                </a:highlight>
              </a:rPr>
              <a:t>Asset count by campaign</a:t>
            </a:r>
          </a:p>
          <a:p>
            <a:r>
              <a:rPr lang="en-US" sz="800" b="0"/>
              <a:t>Total deliverables produced per named campaign — Always On, BAU and Others excluded, so it's just the campaign-driven push.</a:t>
            </a:r>
          </a:p>
          <a:p>
            <a:endParaRPr lang="en-US" sz="800" b="0"/>
          </a:p>
          <a:p>
            <a:r>
              <a:rPr lang="en-US" sz="1000">
                <a:highlight>
                  <a:srgbClr val="000054"/>
                </a:highlight>
              </a:rPr>
              <a:t>Squads demand distribution</a:t>
            </a:r>
          </a:p>
          <a:p>
            <a:r>
              <a:rPr lang="en-US" sz="800" b="0"/>
              <a:t>For each asset type, who's asking for it — the split between Domestic, INTON and Other Stakeholders. Shows which deliverables are one squad's core business (Display ads, Print assets = mostly Domestic) versus shared across groups (Pages, GIF/Motion = mixed).</a:t>
            </a:r>
          </a:p>
        </p:txBody>
      </p:sp>
    </p:spTree>
    <p:extLst>
      <p:ext uri="{BB962C8B-B14F-4D97-AF65-F5344CB8AC3E}">
        <p14:creationId xmlns:p14="http://schemas.microsoft.com/office/powerpoint/2010/main" val="3734082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D9AE7-8C8A-A4A5-A27D-37052C5D1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8C2866-4ADA-D35E-95CE-184751FD6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192" y="1226499"/>
            <a:ext cx="5696968" cy="2336723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BED8C51A-EFB6-F901-084A-C6AFD87D03EB}"/>
              </a:ext>
            </a:extLst>
          </p:cNvPr>
          <p:cNvSpPr txBox="1">
            <a:spLocks/>
          </p:cNvSpPr>
          <p:nvPr/>
        </p:nvSpPr>
        <p:spPr>
          <a:xfrm>
            <a:off x="419708" y="1429260"/>
            <a:ext cx="2174846" cy="6135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2700" b="1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892" indent="0" algn="ctr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None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None/>
              <a:tabLst/>
              <a:defRPr lang="en-US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4"/>
              </a:buClr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highlight>
                  <a:srgbClr val="000054"/>
                </a:highlight>
              </a:rPr>
              <a:t>Dashboard</a:t>
            </a:r>
          </a:p>
          <a:p>
            <a:r>
              <a:rPr lang="en-US">
                <a:highlight>
                  <a:srgbClr val="000054"/>
                </a:highlight>
              </a:rPr>
              <a:t>breakdown</a:t>
            </a:r>
          </a:p>
          <a:p>
            <a:endParaRPr lang="en-US">
              <a:cs typeface="Arial" panose="020B0604020202020204"/>
            </a:endParaRPr>
          </a:p>
          <a:p>
            <a:endParaRPr lang="en-AU">
              <a:cs typeface="Arial" panose="020B0604020202020204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1CD64DB-368A-3D7D-5B9C-3BCDA9D09341}"/>
              </a:ext>
            </a:extLst>
          </p:cNvPr>
          <p:cNvSpPr txBox="1">
            <a:spLocks/>
          </p:cNvSpPr>
          <p:nvPr/>
        </p:nvSpPr>
        <p:spPr>
          <a:xfrm>
            <a:off x="387382" y="2555311"/>
            <a:ext cx="2427889" cy="260020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2700" b="1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892" indent="0" algn="ctr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None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None/>
              <a:tabLst/>
              <a:defRPr lang="en-US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4"/>
              </a:buClr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highlight>
                  <a:srgbClr val="000054"/>
                </a:highlight>
              </a:rPr>
              <a:t>Workload &amp; tasks across the year</a:t>
            </a:r>
          </a:p>
          <a:p>
            <a:r>
              <a:rPr lang="en-US" sz="800" b="0"/>
              <a:t>Assets per month, plotted across the year — with every task shown as a dot, colour-coded by stakeholder group. Hover or click a dot to jump straight into that task's details.</a:t>
            </a:r>
          </a:p>
          <a:p>
            <a:endParaRPr lang="en-US" sz="800" b="0"/>
          </a:p>
        </p:txBody>
      </p:sp>
    </p:spTree>
    <p:extLst>
      <p:ext uri="{BB962C8B-B14F-4D97-AF65-F5344CB8AC3E}">
        <p14:creationId xmlns:p14="http://schemas.microsoft.com/office/powerpoint/2010/main" val="3631319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E90A3-F2EC-81F7-8AF4-80370FA6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7F3AF82D-5973-EDEF-E2F0-35758C9FBAA1}"/>
              </a:ext>
            </a:extLst>
          </p:cNvPr>
          <p:cNvSpPr txBox="1">
            <a:spLocks/>
          </p:cNvSpPr>
          <p:nvPr/>
        </p:nvSpPr>
        <p:spPr>
          <a:xfrm>
            <a:off x="419708" y="1429260"/>
            <a:ext cx="2174846" cy="6135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2700" b="1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892" indent="0" algn="ctr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None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None/>
              <a:tabLst/>
              <a:defRPr lang="en-US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4"/>
              </a:buClr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highlight>
                  <a:srgbClr val="000054"/>
                </a:highlight>
              </a:rPr>
              <a:t>Task List</a:t>
            </a:r>
          </a:p>
          <a:p>
            <a:endParaRPr lang="en-US">
              <a:cs typeface="Arial" panose="020B0604020202020204"/>
            </a:endParaRPr>
          </a:p>
          <a:p>
            <a:endParaRPr lang="en-AU">
              <a:cs typeface="Arial" panose="020B0604020202020204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BFFE7E6-0EA7-F5F7-8977-B74987E99A02}"/>
              </a:ext>
            </a:extLst>
          </p:cNvPr>
          <p:cNvSpPr txBox="1">
            <a:spLocks/>
          </p:cNvSpPr>
          <p:nvPr/>
        </p:nvSpPr>
        <p:spPr>
          <a:xfrm>
            <a:off x="387382" y="2042822"/>
            <a:ext cx="2427889" cy="260020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2700" b="1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892" indent="0" algn="ctr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None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None/>
              <a:tabLst/>
              <a:defRPr lang="en-US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4"/>
              </a:buClr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0"/>
              <a:t>Every task GCMC has ever logged, in one searchable table — search by code or name, filter by squad, campaign, work type, asset type, person, size or function, and sort any column. Click a row to open and edit it.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E608C9-0261-F32D-586E-49A97FA4A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909" y="1058869"/>
            <a:ext cx="5860268" cy="302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077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B6CFF-D754-C3A4-3A05-FCEC70BA6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80995274-FD6E-1F46-56A4-2345DDBAB2A3}"/>
              </a:ext>
            </a:extLst>
          </p:cNvPr>
          <p:cNvSpPr txBox="1">
            <a:spLocks/>
          </p:cNvSpPr>
          <p:nvPr/>
        </p:nvSpPr>
        <p:spPr>
          <a:xfrm>
            <a:off x="419708" y="1429260"/>
            <a:ext cx="2174846" cy="6135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2700" b="1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892" indent="0" algn="ctr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None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None/>
              <a:tabLst/>
              <a:defRPr lang="en-US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4"/>
              </a:buClr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highlight>
                  <a:srgbClr val="000054"/>
                </a:highlight>
              </a:rPr>
              <a:t>Task List</a:t>
            </a:r>
          </a:p>
          <a:p>
            <a:endParaRPr lang="en-US">
              <a:cs typeface="Arial" panose="020B0604020202020204"/>
            </a:endParaRPr>
          </a:p>
          <a:p>
            <a:endParaRPr lang="en-AU">
              <a:cs typeface="Arial" panose="020B0604020202020204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B574322-CF3B-0EEC-453D-17F780AD9FD5}"/>
              </a:ext>
            </a:extLst>
          </p:cNvPr>
          <p:cNvSpPr txBox="1">
            <a:spLocks/>
          </p:cNvSpPr>
          <p:nvPr/>
        </p:nvSpPr>
        <p:spPr>
          <a:xfrm>
            <a:off x="387382" y="2042822"/>
            <a:ext cx="2427889" cy="260020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2700" b="1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892" indent="0" algn="ctr" defTabSz="685783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None/>
              <a:tabLst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None/>
              <a:tabLst/>
              <a:defRPr lang="en-US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4"/>
              </a:buClr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0"/>
              <a:t>Every task GCMC has ever logged, in one searchable table — search by code or name, filter by squad, campaign, work type, asset type, person, size or function, and sort any column. Click a row to open and edit 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61FC98-DABA-E020-ED17-A7CD72CC1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577" y="986470"/>
            <a:ext cx="5635585" cy="323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96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687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4E61B-ACB8-A5D5-A5EB-2205A8B1F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6F15-86BD-9EF4-4270-D2E49F50F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557" y="869818"/>
            <a:ext cx="8430423" cy="1313530"/>
          </a:xfrm>
        </p:spPr>
        <p:txBody>
          <a:bodyPr/>
          <a:lstStyle/>
          <a:p>
            <a:r>
              <a:rPr lang="en-US" sz="6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GCMC</a:t>
            </a:r>
            <a:br>
              <a:rPr lang="en-US" sz="4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Workload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BBFB78-2D46-DC9F-A78D-7D6373421A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557" y="2351241"/>
            <a:ext cx="8430423" cy="1056952"/>
          </a:xfrm>
        </p:spPr>
        <p:txBody>
          <a:bodyPr/>
          <a:lstStyle/>
          <a:p>
            <a:r>
              <a:rPr lang="en-US"/>
              <a:t>Usage and migration guide</a:t>
            </a:r>
          </a:p>
          <a:p>
            <a:r>
              <a:rPr lang="en-US" sz="1000" b="0"/>
              <a:t>For GCMC’s manager + functions teams (design, production and contents)</a:t>
            </a:r>
          </a:p>
        </p:txBody>
      </p:sp>
    </p:spTree>
    <p:extLst>
      <p:ext uri="{BB962C8B-B14F-4D97-AF65-F5344CB8AC3E}">
        <p14:creationId xmlns:p14="http://schemas.microsoft.com/office/powerpoint/2010/main" val="2917102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3C8DA78-30DA-0B1B-58F4-038259332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29" y="299902"/>
            <a:ext cx="1930436" cy="1694259"/>
          </a:xfrm>
        </p:spPr>
        <p:txBody>
          <a:bodyPr/>
          <a:lstStyle/>
          <a:p>
            <a:r>
              <a:rPr lang="en-US"/>
              <a:t>VTAC campaign</a:t>
            </a:r>
            <a:br>
              <a:rPr lang="en-US"/>
            </a:br>
            <a:r>
              <a:rPr lang="en-US"/>
              <a:t>scripts</a:t>
            </a:r>
            <a:br>
              <a:rPr lang="en-US">
                <a:cs typeface="Arial"/>
              </a:rPr>
            </a:br>
            <a:r>
              <a:rPr lang="en-US">
                <a:cs typeface="Arial"/>
              </a:rPr>
              <a:t>30 second</a:t>
            </a:r>
            <a:br>
              <a:rPr lang="en-US">
                <a:cs typeface="Arial"/>
              </a:rPr>
            </a:br>
            <a:br>
              <a:rPr lang="en-US">
                <a:cs typeface="Arial"/>
              </a:rPr>
            </a:br>
            <a:endParaRPr lang="en-AU" sz="1800" b="0">
              <a:cs typeface="Arial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A8887F3-DC54-74AB-9F3B-F783AA61A6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62250" y="1257300"/>
            <a:ext cx="6165056" cy="3323035"/>
          </a:xfrm>
        </p:spPr>
        <p:txBody>
          <a:bodyPr/>
          <a:lstStyle/>
          <a:p>
            <a:endParaRPr lang="en-AU" b="0">
              <a:cs typeface="Arial"/>
            </a:endParaRPr>
          </a:p>
          <a:p>
            <a:endParaRPr lang="en-AU" b="0"/>
          </a:p>
          <a:p>
            <a:endParaRPr lang="en-AU" b="0"/>
          </a:p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77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6DACD-12FB-E58D-3DA5-948E6E515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D786B-25C0-288E-7A66-9D00B657B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Feedback recap from 15 July 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B5857-4550-273C-5DD7-835E11038B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Filter gradient: </a:t>
            </a:r>
            <a:r>
              <a:rPr lang="en-US">
                <a:ea typeface="+mn-lt"/>
                <a:cs typeface="+mn-lt"/>
              </a:rPr>
              <a:t>shifted to prioritize RMIT red more. 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Pref. Lockup: </a:t>
            </a:r>
            <a:r>
              <a:rPr lang="en-US">
                <a:ea typeface="+mn-lt"/>
                <a:cs typeface="+mn-lt"/>
              </a:rPr>
              <a:t>offset added, it should now look more aligned with Only at...lockup.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Text and copy: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sz="1600">
                <a:ea typeface="+mn-lt"/>
                <a:cs typeface="+mn-lt"/>
              </a:rPr>
              <a:t>"Only at Open Day" approach, using offset text, varied font sizes and a bit more hierarchy to give it greater impact.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Video storyboard: </a:t>
            </a:r>
            <a:r>
              <a:rPr lang="en-US">
                <a:ea typeface="+mn-lt"/>
                <a:cs typeface="+mn-lt"/>
              </a:rPr>
              <a:t>since Jane did have a few comments on swapping some of the footage, those have been updated to reflect our latest selection (along with the adjusted filter, of course)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Digital display:</a:t>
            </a:r>
            <a:r>
              <a:rPr lang="en-US">
                <a:ea typeface="+mn-lt"/>
                <a:cs typeface="+mn-lt"/>
              </a:rPr>
              <a:t> Filter and layout adjusted, for no-image sets (size constrains), we're proposing 2 options: pure red and a red-dominant gradient with a touch of navy so they are still somewhat visually connected to other assets</a:t>
            </a:r>
            <a:endParaRPr lang="en-US"/>
          </a:p>
          <a:p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4829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2E6EB-CC7F-FA5C-BD1C-F0F9C14A0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911A7-0A3A-B3A9-F67F-EF7AFAA4A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30" y="299902"/>
            <a:ext cx="2999760" cy="271379"/>
          </a:xfrm>
        </p:spPr>
        <p:txBody>
          <a:bodyPr/>
          <a:lstStyle/>
          <a:p>
            <a:r>
              <a:rPr lang="en-US" sz="1600">
                <a:cs typeface="Arial"/>
              </a:rPr>
              <a:t>Preference RMIT lockup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A224C3-D33C-21F8-7846-B954DBFE0B6C}"/>
              </a:ext>
            </a:extLst>
          </p:cNvPr>
          <p:cNvSpPr txBox="1"/>
          <p:nvPr/>
        </p:nvSpPr>
        <p:spPr>
          <a:xfrm>
            <a:off x="4975251" y="2604106"/>
            <a:ext cx="2894893" cy="230832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 sz="900">
                <a:solidFill>
                  <a:srgbClr val="00005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“Only at RMIT can you…” lockup for reference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7594C53-D930-066A-AF0A-8AF28B6A76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055" y="949720"/>
            <a:ext cx="2462080" cy="205315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23DA413-0841-695A-5820-94AE12372D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07"/>
          <a:stretch>
            <a:fillRect/>
          </a:stretch>
        </p:blipFill>
        <p:spPr>
          <a:xfrm>
            <a:off x="1121055" y="3095334"/>
            <a:ext cx="2462080" cy="128591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56F98BD-8D14-4052-5006-0879A2A34393}"/>
              </a:ext>
            </a:extLst>
          </p:cNvPr>
          <p:cNvSpPr txBox="1"/>
          <p:nvPr/>
        </p:nvSpPr>
        <p:spPr>
          <a:xfrm>
            <a:off x="4975252" y="3931220"/>
            <a:ext cx="1644210" cy="507831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 sz="900">
                <a:solidFill>
                  <a:srgbClr val="00005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Dedicated option to </a:t>
            </a:r>
            <a:r>
              <a:rPr lang="en-US" sz="900" err="1">
                <a:solidFill>
                  <a:srgbClr val="00005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prioritise</a:t>
            </a:r>
            <a:r>
              <a:rPr lang="en-US" sz="900">
                <a:solidFill>
                  <a:srgbClr val="00005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readability for small sizes (728x90 and 320x50)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E36379B-2C1B-604F-9DA5-27CFC27493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385"/>
          <a:stretch>
            <a:fillRect/>
          </a:stretch>
        </p:blipFill>
        <p:spPr>
          <a:xfrm>
            <a:off x="5062893" y="3125612"/>
            <a:ext cx="1865212" cy="74009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0724E9E-810A-1148-AC2D-5D3901A218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315" y="989957"/>
            <a:ext cx="1897578" cy="158179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843BEAC-BB8E-0E6F-1E0B-FDEA382A6E6F}"/>
              </a:ext>
            </a:extLst>
          </p:cNvPr>
          <p:cNvCxnSpPr/>
          <p:nvPr/>
        </p:nvCxnSpPr>
        <p:spPr>
          <a:xfrm>
            <a:off x="4521550" y="643233"/>
            <a:ext cx="0" cy="39413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937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MIT brand">
      <a:dk1>
        <a:srgbClr val="000054"/>
      </a:dk1>
      <a:lt1>
        <a:srgbClr val="FFFFFF"/>
      </a:lt1>
      <a:dk2>
        <a:srgbClr val="FFFFFF"/>
      </a:dk2>
      <a:lt2>
        <a:srgbClr val="E2E5DF"/>
      </a:lt2>
      <a:accent1>
        <a:srgbClr val="000054"/>
      </a:accent1>
      <a:accent2>
        <a:srgbClr val="E51D2A"/>
      </a:accent2>
      <a:accent3>
        <a:srgbClr val="FAC800"/>
      </a:accent3>
      <a:accent4>
        <a:srgbClr val="E2E5DF"/>
      </a:accent4>
      <a:accent5>
        <a:srgbClr val="E51D2A"/>
      </a:accent5>
      <a:accent6>
        <a:srgbClr val="000054"/>
      </a:accent6>
      <a:hlink>
        <a:srgbClr val="000054"/>
      </a:hlink>
      <a:folHlink>
        <a:srgbClr val="00005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tx2"/>
        </a:solidFill>
      </a:spPr>
      <a:bodyPr vert="horz" wrap="none" lIns="91440" tIns="45720" rIns="91440" bIns="45720" rtlCol="0" anchor="t" anchorCtr="0">
        <a:spAutoFit/>
      </a:bodyPr>
      <a:lstStyle>
        <a:defPPr algn="l">
          <a:defRPr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2025 Brand Powerpoint_template" id="{0186B9E4-F573-2A44-99BE-086E06AD2FD4}" vid="{C05D0165-0C13-0B44-9989-A510483C5A0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A2C7976B688499ECCD65F462E1360" ma:contentTypeVersion="19" ma:contentTypeDescription="Create a new document." ma:contentTypeScope="" ma:versionID="c2215155381f6e9c468b6bf23296fd9a">
  <xsd:schema xmlns:xsd="http://www.w3.org/2001/XMLSchema" xmlns:xs="http://www.w3.org/2001/XMLSchema" xmlns:p="http://schemas.microsoft.com/office/2006/metadata/properties" xmlns:ns2="b483c07b-55a3-4b61-b543-8301f17afd88" xmlns:ns3="89344371-4f1a-4776-806d-486a30df2c03" targetNamespace="http://schemas.microsoft.com/office/2006/metadata/properties" ma:root="true" ma:fieldsID="56443ec09528a2f9e540ec53c56c7a45" ns2:_="" ns3:_="">
    <xsd:import namespace="b483c07b-55a3-4b61-b543-8301f17afd88"/>
    <xsd:import namespace="89344371-4f1a-4776-806d-486a30df2c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83c07b-55a3-4b61-b543-8301f17afd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921d02d-b337-4ce5-bd1c-22d9132a6b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344371-4f1a-4776-806d-486a30df2c0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0782d39-53e5-437c-9f0e-e85259290a4e}" ma:internalName="TaxCatchAll" ma:showField="CatchAllData" ma:web="89344371-4f1a-4776-806d-486a30df2c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483c07b-55a3-4b61-b543-8301f17afd88">
      <Terms xmlns="http://schemas.microsoft.com/office/infopath/2007/PartnerControls"/>
    </lcf76f155ced4ddcb4097134ff3c332f>
    <TaxCatchAll xmlns="89344371-4f1a-4776-806d-486a30df2c03" xsi:nil="true"/>
  </documentManagement>
</p:properties>
</file>

<file path=customXml/itemProps1.xml><?xml version="1.0" encoding="utf-8"?>
<ds:datastoreItem xmlns:ds="http://schemas.openxmlformats.org/officeDocument/2006/customXml" ds:itemID="{B4C1E47D-066B-4784-9B78-DC3F9384DC2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FB0173-5F93-4E8A-9F78-021EF98A34D4}">
  <ds:schemaRefs>
    <ds:schemaRef ds:uri="89344371-4f1a-4776-806d-486a30df2c03"/>
    <ds:schemaRef ds:uri="b483c07b-55a3-4b61-b543-8301f17afd8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05765C3-25C3-4F19-97EA-F1894DE5CB44}">
  <ds:schemaRefs>
    <ds:schemaRef ds:uri="http://schemas.openxmlformats.org/package/2006/metadata/core-properties"/>
    <ds:schemaRef ds:uri="http://purl.org/dc/dcmitype/"/>
    <ds:schemaRef ds:uri="b483c07b-55a3-4b61-b543-8301f17afd88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89344371-4f1a-4776-806d-486a30df2c03"/>
    <ds:schemaRef ds:uri="http://schemas.microsoft.com/office/2006/metadata/properties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8c3d088b-6243-4963-a2e2-8b321ab7f8fc}" enabled="1" method="Standard" siteId="{d1323671-cdbe-4417-b4d4-bdb24b51316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2025 Brand Powerpoint_template</Template>
  <TotalTime>21</TotalTime>
  <Words>640</Words>
  <Application>Microsoft Office PowerPoint</Application>
  <PresentationFormat>On-screen Show (16:9)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Office Theme</vt:lpstr>
      <vt:lpstr>GCMC Workload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GCMC Workload report</vt:lpstr>
      <vt:lpstr>VTAC campaign scripts 30 second  </vt:lpstr>
      <vt:lpstr>Feedback recap from 15 July </vt:lpstr>
      <vt:lpstr>Preference RMIT lockup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Olivia Villani</dc:creator>
  <cp:lastModifiedBy>Danh Nguyen</cp:lastModifiedBy>
  <cp:revision>22</cp:revision>
  <dcterms:created xsi:type="dcterms:W3CDTF">2026-06-15T06:26:49Z</dcterms:created>
  <dcterms:modified xsi:type="dcterms:W3CDTF">2026-07-22T06:46:26Z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c3d088b-6243-4963-a2e2-8b321ab7f8fc_Enabled">
    <vt:lpwstr>true</vt:lpwstr>
  </property>
  <property fmtid="{D5CDD505-2E9C-101B-9397-08002B2CF9AE}" pid="3" name="MSIP_Label_8c3d088b-6243-4963-a2e2-8b321ab7f8fc_SetDate">
    <vt:lpwstr>2021-10-12T23:31:41Z</vt:lpwstr>
  </property>
  <property fmtid="{D5CDD505-2E9C-101B-9397-08002B2CF9AE}" pid="4" name="MSIP_Label_8c3d088b-6243-4963-a2e2-8b321ab7f8fc_Method">
    <vt:lpwstr>Standard</vt:lpwstr>
  </property>
  <property fmtid="{D5CDD505-2E9C-101B-9397-08002B2CF9AE}" pid="5" name="MSIP_Label_8c3d088b-6243-4963-a2e2-8b321ab7f8fc_Name">
    <vt:lpwstr>Trusted</vt:lpwstr>
  </property>
  <property fmtid="{D5CDD505-2E9C-101B-9397-08002B2CF9AE}" pid="6" name="MSIP_Label_8c3d088b-6243-4963-a2e2-8b321ab7f8fc_SiteId">
    <vt:lpwstr>d1323671-cdbe-4417-b4d4-bdb24b51316b</vt:lpwstr>
  </property>
  <property fmtid="{D5CDD505-2E9C-101B-9397-08002B2CF9AE}" pid="7" name="MSIP_Label_8c3d088b-6243-4963-a2e2-8b321ab7f8fc_ActionId">
    <vt:lpwstr>04a7de1e-b51e-4c85-a10f-929f94def34a</vt:lpwstr>
  </property>
  <property fmtid="{D5CDD505-2E9C-101B-9397-08002B2CF9AE}" pid="8" name="MSIP_Label_8c3d088b-6243-4963-a2e2-8b321ab7f8fc_ContentBits">
    <vt:lpwstr>1</vt:lpwstr>
  </property>
  <property fmtid="{D5CDD505-2E9C-101B-9397-08002B2CF9AE}" pid="9" name="ClassificationContentMarkingHeaderLocations">
    <vt:lpwstr>office theme:8\Office Theme:4</vt:lpwstr>
  </property>
  <property fmtid="{D5CDD505-2E9C-101B-9397-08002B2CF9AE}" pid="10" name="ClassificationContentMarkingHeaderText">
    <vt:lpwstr>RMIT Classification: Trusted</vt:lpwstr>
  </property>
  <property fmtid="{D5CDD505-2E9C-101B-9397-08002B2CF9AE}" pid="11" name="ContentTypeId">
    <vt:lpwstr>0x01010034DA2C7976B688499ECCD65F462E1360</vt:lpwstr>
  </property>
  <property fmtid="{D5CDD505-2E9C-101B-9397-08002B2CF9AE}" pid="12" name="MediaServiceImageTags">
    <vt:lpwstr/>
  </property>
</Properties>
</file>