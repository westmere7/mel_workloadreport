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0" r:id="rId4"/>
  </p:sldMasterIdLst>
  <p:notesMasterIdLst>
    <p:notesMasterId r:id="rId23"/>
  </p:notesMasterIdLst>
  <p:sldIdLst>
    <p:sldId id="304" r:id="rId5"/>
    <p:sldId id="356" r:id="rId6"/>
    <p:sldId id="306" r:id="rId7"/>
    <p:sldId id="343" r:id="rId8"/>
    <p:sldId id="346" r:id="rId9"/>
    <p:sldId id="344" r:id="rId10"/>
    <p:sldId id="345" r:id="rId11"/>
    <p:sldId id="357" r:id="rId12"/>
    <p:sldId id="355" r:id="rId13"/>
    <p:sldId id="358" r:id="rId14"/>
    <p:sldId id="349" r:id="rId15"/>
    <p:sldId id="350" r:id="rId16"/>
    <p:sldId id="347" r:id="rId17"/>
    <p:sldId id="342" r:id="rId18"/>
    <p:sldId id="351" r:id="rId19"/>
    <p:sldId id="352" r:id="rId20"/>
    <p:sldId id="353" r:id="rId21"/>
    <p:sldId id="354" r:id="rId2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6AFCC07-6351-D38A-BFF5-682F3485EB20}" name="Hilary Jones" initials="" userId="S::hilary.jones@rmit.edu.au::7f7cedb1-3782-457f-9fa6-7b1d6129a8e5" providerId="AD"/>
  <p188:author id="{CE1A9020-B6D4-C4C0-B2D3-284AFAE0D3C5}" name="Sarah Morley" initials="SM" userId="S::sarah.morley@rmit.edu.au::ad7a720f-71a2-4e21-b98f-de1faa32b6e7" providerId="AD"/>
  <p188:author id="{6CAF8156-AA95-6578-F88D-6065213CEC59}" name="Emily Bourrilhon" initials="" userId="S::emily.bourrilhon@rmit.edu.au::06dfc4ff-6a53-43c7-9a43-8d324e342285" providerId="AD"/>
  <p188:author id="{2F2DF158-80F2-8859-2FB8-B54B4BD7A521}" name="Jacob Johnston" initials="" userId="S::jacob.johnston@rmit.edu.au::ce90c1b0-eb93-4587-a447-c26cd4c766f1" providerId="AD"/>
  <p188:author id="{3BADD45D-6C28-9784-859C-0C0D30A0E210}" name="Dung Vu" initials="DV" userId="S::dung.vu9@rmit.edu.vn::db49b4bc-81a4-4fb3-bc15-d4effb3df92a" providerId="AD"/>
  <p188:author id="{741FCBA0-B742-6391-4BF0-5C8209459363}" name="Jane Tramby" initials="JT" userId="S::jane.tramby@rmit.edu.au::b3477ef0-73e2-4c84-a8cb-63567525240a" providerId="AD"/>
  <p188:author id="{78E247DC-A4BF-8E59-9587-6E2CECD67333}" name="Danh Nguyen" initials="" userId="S::danh.nguyen15@rmit.edu.vn::d5e1fe91-a326-47d0-8db8-fc5e06cda5cb" providerId="AD"/>
  <p188:author id="{1D2E08F8-1760-6687-F2FC-22E6A167AD66}" name="Olivia Villani" initials="OV" userId="S::olivia.villani@rmit.edu.au::d87ac168-ec0f-4ec5-af64-80fd45e5bd24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Sophie MacGillivray" initials="SM" lastIdx="7" clrIdx="6">
    <p:extLst>
      <p:ext uri="{19B8F6BF-5375-455C-9EA6-DF929625EA0E}">
        <p15:presenceInfo xmlns:p15="http://schemas.microsoft.com/office/powerpoint/2012/main" userId="S::sophie.macgillivray@rmit.edu.au::1582d821-a095-4492-868f-ca3120a0aac1" providerId="AD"/>
      </p:ext>
    </p:extLst>
  </p:cmAuthor>
  <p:cmAuthor id="1" name="Daniel Polidano" initials="DP" lastIdx="10" clrIdx="0">
    <p:extLst>
      <p:ext uri="{19B8F6BF-5375-455C-9EA6-DF929625EA0E}">
        <p15:presenceInfo xmlns:p15="http://schemas.microsoft.com/office/powerpoint/2012/main" userId="S::daniel.polidano@rmit.edu.au::23369db3-1b7b-40ff-863a-b188c2e0754c" providerId="AD"/>
      </p:ext>
    </p:extLst>
  </p:cmAuthor>
  <p:cmAuthor id="8" name="Olivia Villani" initials="OV" lastIdx="1" clrIdx="7">
    <p:extLst>
      <p:ext uri="{19B8F6BF-5375-455C-9EA6-DF929625EA0E}">
        <p15:presenceInfo xmlns:p15="http://schemas.microsoft.com/office/powerpoint/2012/main" userId="S::olivia.villani@rmit.edu.au::d87ac168-ec0f-4ec5-af64-80fd45e5bd24" providerId="AD"/>
      </p:ext>
    </p:extLst>
  </p:cmAuthor>
  <p:cmAuthor id="2" name="Sarah Morley" initials="SM" lastIdx="17" clrIdx="1">
    <p:extLst>
      <p:ext uri="{19B8F6BF-5375-455C-9EA6-DF929625EA0E}">
        <p15:presenceInfo xmlns:p15="http://schemas.microsoft.com/office/powerpoint/2012/main" userId="S::sarah.morley@rmit.edu.au::ad7a720f-71a2-4e21-b98f-de1faa32b6e7" providerId="AD"/>
      </p:ext>
    </p:extLst>
  </p:cmAuthor>
  <p:cmAuthor id="3" name="Darcy Muller" initials="DM" lastIdx="8" clrIdx="2">
    <p:extLst>
      <p:ext uri="{19B8F6BF-5375-455C-9EA6-DF929625EA0E}">
        <p15:presenceInfo xmlns:p15="http://schemas.microsoft.com/office/powerpoint/2012/main" userId="S::darcy.muller@rmit.edu.au::7a5694f8-bfb9-4e38-8e6a-504c4d893d3e" providerId="AD"/>
      </p:ext>
    </p:extLst>
  </p:cmAuthor>
  <p:cmAuthor id="4" name="Ben Bucknall" initials="BB" lastIdx="6" clrIdx="3">
    <p:extLst>
      <p:ext uri="{19B8F6BF-5375-455C-9EA6-DF929625EA0E}">
        <p15:presenceInfo xmlns:p15="http://schemas.microsoft.com/office/powerpoint/2012/main" userId="S::ben.bucknall@rmit.edu.au::30817f56-0a79-48ff-89b7-28590598d990" providerId="AD"/>
      </p:ext>
    </p:extLst>
  </p:cmAuthor>
  <p:cmAuthor id="5" name="Jane Tramby" initials="JT" lastIdx="2" clrIdx="4">
    <p:extLst>
      <p:ext uri="{19B8F6BF-5375-455C-9EA6-DF929625EA0E}">
        <p15:presenceInfo xmlns:p15="http://schemas.microsoft.com/office/powerpoint/2012/main" userId="S::jane.tramby@rmit.edu.au::b3477ef0-73e2-4c84-a8cb-63567525240a" providerId="AD"/>
      </p:ext>
    </p:extLst>
  </p:cmAuthor>
  <p:cmAuthor id="6" name="Bob Xiao" initials="BX" lastIdx="3" clrIdx="5">
    <p:extLst>
      <p:ext uri="{19B8F6BF-5375-455C-9EA6-DF929625EA0E}">
        <p15:presenceInfo xmlns:p15="http://schemas.microsoft.com/office/powerpoint/2012/main" userId="S::bob.xiao@rmit.edu.au::87402b42-2b1b-4fc5-bb03-3f3b4a40682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1E2A"/>
    <a:srgbClr val="000054"/>
    <a:srgbClr val="B3B3CC"/>
    <a:srgbClr val="E8E7EA"/>
    <a:srgbClr val="000000"/>
    <a:srgbClr val="B3B3F0"/>
    <a:srgbClr val="EAECE8"/>
    <a:srgbClr val="E6E6EE"/>
    <a:srgbClr val="8080AA"/>
    <a:srgbClr val="F1F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5" d="100"/>
          <a:sy n="185" d="100"/>
        </p:scale>
        <p:origin x="136" y="39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69C4A591-A458-4822-BC04-83B10B194356}" type="datetimeFigureOut">
              <a:rPr lang="en" smtClean="0"/>
              <a:pPr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A03F2E6-9F51-4289-953D-B2EF8579062F}" type="slidenum">
              <a:rPr lang="en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93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3429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6858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0287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3716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1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F2C3B5-0EEE-7745-A7B9-592D5689F93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430423" cy="1313530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Click to edit Project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8430423" cy="1056952"/>
          </a:xfrm>
        </p:spPr>
        <p:txBody>
          <a:bodyPr anchor="t" anchorCtr="0"/>
          <a:lstStyle>
            <a:lvl1pPr marL="0" indent="0" algn="l">
              <a:buNone/>
              <a:defRPr sz="27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D35544-392A-4E4D-A137-14755080D317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A427ED0-C848-5943-E6E3-F3ACFAEFDE0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02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2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696229-ED0C-CF40-A716-1482E7A51AF3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066438" cy="1413857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Project title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8066438" cy="1056952"/>
          </a:xfrm>
        </p:spPr>
        <p:txBody>
          <a:bodyPr anchor="t" anchorCtr="0"/>
          <a:lstStyle>
            <a:lvl1pPr marL="0" indent="0" algn="l">
              <a:buNone/>
              <a:defRPr sz="27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94BFB8-5006-854E-A03B-65D75E3FA688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85162-60F6-B4E5-9FB5-792BBD29D4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74" y="4386221"/>
            <a:ext cx="2534574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97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3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F2C3B5-0EEE-7745-A7B9-592D5689F935}"/>
              </a:ext>
            </a:extLst>
          </p:cNvPr>
          <p:cNvSpPr/>
          <p:nvPr userDrawn="1"/>
        </p:nvSpPr>
        <p:spPr>
          <a:xfrm>
            <a:off x="0" y="0"/>
            <a:ext cx="4870938" cy="5143500"/>
          </a:xfrm>
          <a:prstGeom prst="rect">
            <a:avLst/>
          </a:prstGeom>
          <a:solidFill>
            <a:srgbClr val="0000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4399443" cy="1310171"/>
          </a:xfrm>
        </p:spPr>
        <p:txBody>
          <a:bodyPr anchor="t" anchorCtr="0"/>
          <a:lstStyle>
            <a:lvl1pPr marL="0" indent="0" algn="l">
              <a:buNone/>
              <a:defRPr sz="21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91D0F7C-79A1-4847-8A60-AC7E92D3F8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075" y="702279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GB"/>
              <a:t>Project title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32C4CC1-402A-1C44-ABC7-0CA4A95DA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9076" y="214082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D42EB612-735B-1B46-A9E2-EC6C65F3D6C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870939" y="0"/>
            <a:ext cx="4273061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insert image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1F0B9D-BDB2-AE4F-8EAD-C0C1263F14C3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14E4EFC-5141-92CE-A170-AB13DEB38C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292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4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565D2C7C-F7B8-3D4E-8FAC-30CE49EDB43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076" y="214082"/>
            <a:ext cx="4352924" cy="417504"/>
          </a:xfrm>
          <a:solidFill>
            <a:schemeClr val="accent2"/>
          </a:solidFill>
        </p:spPr>
        <p:txBody>
          <a:bodyPr wrap="square" anchor="t" anchorCtr="0"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0B550C-590C-F644-9EFE-122CA7D731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075" y="702279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GB"/>
              <a:t>Project title style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AE239-409C-BB4F-846F-0F3531A514AB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8AA3EA-F37A-52B2-F7B4-E9BD273AF0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74" y="4386221"/>
            <a:ext cx="2534574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493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oC_welc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8BC03576-29ED-967C-98C2-601051D6E0D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543" t="25199" r="-10266" b="27773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B33129-852D-9AD8-E662-A4C79CA184CB}"/>
              </a:ext>
            </a:extLst>
          </p:cNvPr>
          <p:cNvSpPr txBox="1"/>
          <p:nvPr userDrawn="1"/>
        </p:nvSpPr>
        <p:spPr>
          <a:xfrm>
            <a:off x="6330300" y="1440671"/>
            <a:ext cx="2627963" cy="2262158"/>
          </a:xfrm>
          <a:prstGeom prst="rect">
            <a:avLst/>
          </a:prstGeom>
          <a:noFill/>
        </p:spPr>
        <p:txBody>
          <a:bodyPr vert="horz" wrap="square" lIns="0" tIns="34290" rIns="68580" bIns="34290" rtlCol="0" anchor="t" anchorCtr="0">
            <a:spAutoFit/>
          </a:bodyPr>
          <a:lstStyle/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100" b="1" kern="1200" baseline="0">
                <a:solidFill>
                  <a:schemeClr val="accent2"/>
                </a:solidFill>
                <a:latin typeface="+mj-lt"/>
                <a:ea typeface="+mj-ea"/>
                <a:cs typeface="+mj-cs"/>
              </a:rPr>
              <a:t>Acknowledgement of Country</a:t>
            </a:r>
            <a:endParaRPr lang="en-US" sz="1100" b="0" kern="120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University acknowledges the people of the Woi wurrung and Boon wurrung language groups of the eastern Kulin Nation on whose unceded lands we conduct the business of the University. </a:t>
            </a: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University respectfully acknowledges their Ancestors and Elders, past and present.</a:t>
            </a: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also acknowledges the Traditional Custodians and their Ancestors of the lands and waters across Australia where we conduct our business.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1B5C93-9CF0-C3D3-00E3-991602EC3F4C}"/>
              </a:ext>
            </a:extLst>
          </p:cNvPr>
          <p:cNvSpPr txBox="1"/>
          <p:nvPr userDrawn="1"/>
        </p:nvSpPr>
        <p:spPr>
          <a:xfrm>
            <a:off x="6330300" y="4497073"/>
            <a:ext cx="2468260" cy="561692"/>
          </a:xfrm>
          <a:prstGeom prst="rect">
            <a:avLst/>
          </a:prstGeom>
          <a:noFill/>
        </p:spPr>
        <p:txBody>
          <a:bodyPr vert="horz" wrap="square" lIns="0" tIns="34290" rIns="68580" bIns="34290" rtlCol="0" anchor="t" anchorCtr="0">
            <a:spAutoFit/>
          </a:bodyPr>
          <a:lstStyle/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AU" sz="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Artwork ‘Sentient’ by Hollie Johnson</a:t>
            </a:r>
            <a:br>
              <a:rPr lang="en-AU" sz="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AU" sz="8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Hollie is a Gunaikurnai and Monero Ngarigo woman from Gippsland who graduated from RMIT with a BA in Photography in 2016.</a:t>
            </a:r>
          </a:p>
        </p:txBody>
      </p:sp>
    </p:spTree>
    <p:extLst>
      <p:ext uri="{BB962C8B-B14F-4D97-AF65-F5344CB8AC3E}">
        <p14:creationId xmlns:p14="http://schemas.microsoft.com/office/powerpoint/2010/main" val="3971504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oC_additional inf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B3504D-D80A-6C43-8AEA-0D9553EF5920}"/>
              </a:ext>
            </a:extLst>
          </p:cNvPr>
          <p:cNvSpPr txBox="1"/>
          <p:nvPr userDrawn="1"/>
        </p:nvSpPr>
        <p:spPr>
          <a:xfrm>
            <a:off x="334864" y="1052437"/>
            <a:ext cx="4035607" cy="3547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RMIT is committed to redefining its relationship in working with and supporting Aboriginal and Torres Strait Islander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self-determination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University’s goal is to achieve lasting transformation by maturing its values, culture, policy and structures in a way that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embeds reconciliation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in everything we do.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line with the principles of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Bundjil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we are changing our ways of 'knowing, working and being' to support sustainable reconciliation and activate a relationship between Indigenous and non-Indigenous staff, students and community. 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endParaRPr lang="en-AU" sz="1500" b="0" i="0" kern="120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0E1C7BAE-965C-7E42-9A5B-2631428F4E21}"/>
              </a:ext>
            </a:extLst>
          </p:cNvPr>
          <p:cNvSpPr txBox="1">
            <a:spLocks/>
          </p:cNvSpPr>
          <p:nvPr userDrawn="1"/>
        </p:nvSpPr>
        <p:spPr>
          <a:xfrm>
            <a:off x="418719" y="501403"/>
            <a:ext cx="4029957" cy="339324"/>
          </a:xfrm>
          <a:prstGeom prst="rect">
            <a:avLst/>
          </a:prstGeom>
          <a:solidFill>
            <a:schemeClr val="accent2"/>
          </a:solidFill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61E2A"/>
                </a:solidFill>
                <a:latin typeface="Museo 700" panose="02000000000000000000" pitchFamily="2" charset="77"/>
                <a:ea typeface="+mj-ea"/>
                <a:cs typeface="+mj-cs"/>
              </a:defRPr>
            </a:lvl1pPr>
          </a:lstStyle>
          <a:p>
            <a: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AU" sz="2025" b="0" i="0">
                <a:solidFill>
                  <a:schemeClr val="bg1"/>
                </a:solidFill>
                <a:latin typeface="+mj-lt"/>
                <a:ea typeface="+mj-lt"/>
                <a:cs typeface="+mj-lt"/>
              </a:rPr>
              <a:t>Our commitment to Reconciliation</a:t>
            </a:r>
            <a:endParaRPr lang="en-AU" sz="2025" b="0" i="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8447A8-B89A-974C-85E4-994501031D27}"/>
              </a:ext>
            </a:extLst>
          </p:cNvPr>
          <p:cNvSpPr txBox="1"/>
          <p:nvPr userDrawn="1"/>
        </p:nvSpPr>
        <p:spPr>
          <a:xfrm>
            <a:off x="4773530" y="3738495"/>
            <a:ext cx="3951957" cy="34624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825" b="0" i="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2018, the Wurrunggi Biik – Law of the Land public artwork was installed in the New Academic Street to signify a long-lasting spiritual connection to Country.</a:t>
            </a:r>
          </a:p>
        </p:txBody>
      </p:sp>
      <p:pic>
        <p:nvPicPr>
          <p:cNvPr id="10" name="Picture 9" descr="A person in a garment&#10;&#10;Description automatically generated with low confidence">
            <a:extLst>
              <a:ext uri="{FF2B5EF4-FFF2-40B4-BE49-F238E27FC236}">
                <a16:creationId xmlns:a16="http://schemas.microsoft.com/office/drawing/2014/main" id="{F28E96F6-22DC-0A48-8504-3C6BB7D7E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73530" y="1131234"/>
            <a:ext cx="3775384" cy="2514336"/>
          </a:xfrm>
          <a:prstGeom prst="rect">
            <a:avLst/>
          </a:prstGeom>
        </p:spPr>
      </p:pic>
      <p:pic>
        <p:nvPicPr>
          <p:cNvPr id="2" name="Picture 5">
            <a:extLst>
              <a:ext uri="{FF2B5EF4-FFF2-40B4-BE49-F238E27FC236}">
                <a16:creationId xmlns:a16="http://schemas.microsoft.com/office/drawing/2014/main" id="{ECF470D5-8009-69F1-7602-9CA2CFD016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633" t="30239" r="18535" b="64073"/>
          <a:stretch/>
        </p:blipFill>
        <p:spPr>
          <a:xfrm>
            <a:off x="-1" y="4495800"/>
            <a:ext cx="9144001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02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enous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4332" y="187525"/>
            <a:ext cx="6868272" cy="994172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4333" y="1183251"/>
            <a:ext cx="6868271" cy="3385177"/>
          </a:xfrm>
        </p:spPr>
        <p:txBody>
          <a:bodyPr lIns="0"/>
          <a:lstStyle>
            <a:lvl1pPr>
              <a:defRPr b="0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670D66-EE3D-E549-83E8-351DAC6D7E4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039" t="23384" r="53860" b="20850"/>
          <a:stretch/>
        </p:blipFill>
        <p:spPr>
          <a:xfrm>
            <a:off x="0" y="0"/>
            <a:ext cx="1398280" cy="51435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9826827-0070-444A-B806-3942CBC732C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AC9A1A-9F25-FC42-989B-96EA919D0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5329" y="1191718"/>
            <a:ext cx="8681978" cy="3388617"/>
          </a:xfrm>
        </p:spPr>
        <p:txBody>
          <a:bodyPr lIns="0"/>
          <a:lstStyle>
            <a:lvl1pPr>
              <a:defRPr b="0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6448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1257300"/>
            <a:ext cx="6165056" cy="3323035"/>
          </a:xfrm>
        </p:spPr>
        <p:txBody>
          <a:bodyPr lIns="0"/>
          <a:lstStyle>
            <a:lvl1pPr>
              <a:defRPr b="1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787F3F3-3E70-BE46-8E48-0F67DBAD9B5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165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BACC56-8574-434D-BF1B-7A7AF81B14A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BAFD139-1039-4E45-9B01-6D19991FBA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1257300"/>
            <a:ext cx="6165056" cy="3323035"/>
          </a:xfrm>
        </p:spPr>
        <p:txBody>
          <a:bodyPr lIns="0"/>
          <a:lstStyle>
            <a:lvl1pPr>
              <a:defRPr b="1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98829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389B6B7A-C2B8-BA4D-ABD2-4BE87C2CAB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421091" y="0"/>
            <a:ext cx="6722909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1"/>
            <a:ext cx="1930436" cy="957094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E11BC6D-9111-9A43-BDD3-A8D93FAFAA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5329" y="1256995"/>
            <a:ext cx="1930435" cy="3424336"/>
          </a:xfrm>
        </p:spPr>
        <p:txBody>
          <a:bodyPr lIns="0"/>
          <a:lstStyle>
            <a:lvl1pPr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3815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389B6B7A-C2B8-BA4D-ABD2-4BE87C2CAB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421091" y="0"/>
            <a:ext cx="6722909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1"/>
            <a:ext cx="1930436" cy="957094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B012C-14A6-A246-9A24-F124CB1A9FC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5329" y="1256995"/>
            <a:ext cx="1930435" cy="3424336"/>
          </a:xfrm>
        </p:spPr>
        <p:txBody>
          <a:bodyPr lIns="0"/>
          <a:lstStyle>
            <a:lvl1pPr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308865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8295E6EF-78C3-184E-8D3A-0A68BCEB7FB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0988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2E673F1-9DCD-BD4B-9DA0-BD1EBDC6D3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0988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10E6100E-909D-ED45-A000-A54CC6F4E21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275240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3B3D8BF2-79EB-D84A-8A2E-D9009D4436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75240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90EFFE35-D877-BA49-BBE4-5F5DFA8DFCB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69492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A6FAC8FD-639B-DE43-8442-8D0B3FBDAB7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69492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18723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1" name="Chart Placeholder 3">
            <a:extLst>
              <a:ext uri="{FF2B5EF4-FFF2-40B4-BE49-F238E27FC236}">
                <a16:creationId xmlns:a16="http://schemas.microsoft.com/office/drawing/2014/main" id="{F5852E90-9D40-2144-B8BF-8B9A2668693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5740" y="1331226"/>
            <a:ext cx="8644613" cy="3089735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61066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7" name="Table Placeholder 5">
            <a:extLst>
              <a:ext uri="{FF2B5EF4-FFF2-40B4-BE49-F238E27FC236}">
                <a16:creationId xmlns:a16="http://schemas.microsoft.com/office/drawing/2014/main" id="{DEFAF64F-58A7-6241-B8C3-623736293F2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65739" y="1331226"/>
            <a:ext cx="8644614" cy="3089735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870B680-A2D2-E94C-B28C-A6E54778C0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0988" y="4546592"/>
            <a:ext cx="5915025" cy="120254"/>
          </a:xfrm>
        </p:spPr>
        <p:txBody>
          <a:bodyPr/>
          <a:lstStyle>
            <a:lvl1pPr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57368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</a:t>
            </a:r>
            <a:endParaRPr lang="en-US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299901"/>
            <a:ext cx="5950354" cy="4280435"/>
          </a:xfrm>
        </p:spPr>
        <p:txBody>
          <a:bodyPr lIns="0"/>
          <a:lstStyle>
            <a:lvl1pPr>
              <a:spcAft>
                <a:spcPts val="1200"/>
              </a:spcAft>
              <a:defRPr sz="21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B2A923C-C478-D842-BDF6-F9E91C36FC2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2522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3646" y="299901"/>
            <a:ext cx="8478958" cy="4195898"/>
          </a:xfrm>
        </p:spPr>
        <p:txBody>
          <a:bodyPr lIns="0" anchor="ctr" anchorCtr="0"/>
          <a:lstStyle>
            <a:lvl1pPr>
              <a:spcAft>
                <a:spcPts val="1200"/>
              </a:spcAft>
              <a:defRPr sz="36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Section divider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B2A923C-C478-D842-BDF6-F9E91C36FC2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6647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01ACE1-B495-DC44-BF21-745EC325F5E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34FEC52-F95C-D149-9811-8FC8F0BE63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3646" y="299901"/>
            <a:ext cx="8478958" cy="4195898"/>
          </a:xfrm>
        </p:spPr>
        <p:txBody>
          <a:bodyPr lIns="0" anchor="ctr" anchorCtr="0"/>
          <a:lstStyle>
            <a:lvl1pPr>
              <a:spcAft>
                <a:spcPts val="1200"/>
              </a:spcAft>
              <a:defRPr sz="36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Section divider text</a:t>
            </a:r>
          </a:p>
        </p:txBody>
      </p:sp>
    </p:spTree>
    <p:extLst>
      <p:ext uri="{BB962C8B-B14F-4D97-AF65-F5344CB8AC3E}">
        <p14:creationId xmlns:p14="http://schemas.microsoft.com/office/powerpoint/2010/main" val="22750745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C15CCA-163A-5A4D-A3D8-60201F5ED35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430423" cy="1313530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accent2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247B6-696E-A4CC-92B5-23186D7BA164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10" name="Picture 9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7535078-5656-A8F1-8EC8-4EC17DB6EF3D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11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3798" y="187525"/>
            <a:ext cx="8773225" cy="9941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799" y="1191718"/>
            <a:ext cx="8773224" cy="318966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32222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2" r:id="rId2"/>
    <p:sldLayoutId id="2147483881" r:id="rId3"/>
    <p:sldLayoutId id="2147483880" r:id="rId4"/>
    <p:sldLayoutId id="2147483863" r:id="rId5"/>
    <p:sldLayoutId id="2147483882" r:id="rId6"/>
    <p:sldLayoutId id="2147483883" r:id="rId7"/>
    <p:sldLayoutId id="2147483879" r:id="rId8"/>
    <p:sldLayoutId id="2147483868" r:id="rId9"/>
    <p:sldLayoutId id="2147483870" r:id="rId10"/>
    <p:sldLayoutId id="2147483869" r:id="rId11"/>
    <p:sldLayoutId id="2147483871" r:id="rId12"/>
    <p:sldLayoutId id="2147483886" r:id="rId13"/>
    <p:sldLayoutId id="2147483887" r:id="rId14"/>
    <p:sldLayoutId id="2147483888" r:id="rId15"/>
    <p:sldLayoutId id="2147483874" r:id="rId16"/>
    <p:sldLayoutId id="2147483889" r:id="rId17"/>
    <p:sldLayoutId id="2147483875" r:id="rId18"/>
    <p:sldLayoutId id="2147483890" r:id="rId19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b="1" kern="1200" baseline="0">
          <a:solidFill>
            <a:srgbClr val="000054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177796" indent="-177796" algn="l" defTabSz="685783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2"/>
        </a:buClr>
        <a:buFont typeface="Wingdings" pitchFamily="2" charset="2"/>
        <a:buChar char="§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55591" indent="-177796" algn="l" defTabSz="685783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2"/>
        </a:buClr>
        <a:buFont typeface="Wingdings" pitchFamily="2" charset="2"/>
        <a:buChar char="§"/>
        <a:tabLst/>
        <a:defRPr lang="en-US" sz="18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355591" indent="-177796" algn="l" defTabSz="685783" rtl="0" eaLnBrk="1" latinLnBrk="0" hangingPunct="1">
        <a:lnSpc>
          <a:spcPct val="90000"/>
        </a:lnSpc>
        <a:spcBef>
          <a:spcPts val="375"/>
        </a:spcBef>
        <a:buClr>
          <a:schemeClr val="accent4"/>
        </a:buClr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355591" indent="-17779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301C4-6B45-FA3F-E2F4-071EAD48D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557" y="869818"/>
            <a:ext cx="8430423" cy="1313530"/>
          </a:xfrm>
        </p:spPr>
        <p:txBody>
          <a:bodyPr/>
          <a:lstStyle/>
          <a:p>
            <a:r>
              <a:rPr lang="en-US" sz="6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GCMC</a:t>
            </a:r>
            <a:br>
              <a:rPr lang="en-US" sz="4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4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Workload report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7307BC-B323-BCAA-78BC-687C36960E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557" y="2351241"/>
            <a:ext cx="8430423" cy="1056952"/>
          </a:xfrm>
        </p:spPr>
        <p:txBody>
          <a:bodyPr/>
          <a:lstStyle/>
          <a:p>
            <a:r>
              <a:rPr lang="en-US"/>
              <a:t>Usage and migration guide</a:t>
            </a:r>
          </a:p>
          <a:p>
            <a:r>
              <a:rPr lang="en-US" sz="1000" b="0"/>
              <a:t>For GCMC’s manager + functions teams (design, production and contents)</a:t>
            </a:r>
          </a:p>
        </p:txBody>
      </p:sp>
    </p:spTree>
    <p:extLst>
      <p:ext uri="{BB962C8B-B14F-4D97-AF65-F5344CB8AC3E}">
        <p14:creationId xmlns:p14="http://schemas.microsoft.com/office/powerpoint/2010/main" val="283807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BA9F-6B4F-7C2B-363E-FC58851CE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0114-BF63-6DC4-5FE2-BE730D910F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557" y="932519"/>
            <a:ext cx="8430423" cy="1313530"/>
          </a:xfrm>
        </p:spPr>
        <p:txBody>
          <a:bodyPr/>
          <a:lstStyle/>
          <a:p>
            <a:r>
              <a:rPr lang="en-US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GCMC Workload report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1AF4B3-3054-497B-570C-1F522B08E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557" y="1189097"/>
            <a:ext cx="8430423" cy="1056952"/>
          </a:xfrm>
        </p:spPr>
        <p:txBody>
          <a:bodyPr/>
          <a:lstStyle/>
          <a:p>
            <a:r>
              <a:rPr lang="en-US" sz="4000"/>
              <a:t>Sign-in information</a:t>
            </a:r>
          </a:p>
          <a:p>
            <a:r>
              <a:rPr lang="en-US" sz="1200"/>
              <a:t>Use “</a:t>
            </a:r>
            <a:r>
              <a:rPr lang="en-US" sz="1200">
                <a:solidFill>
                  <a:srgbClr val="FF0000"/>
                </a:solidFill>
              </a:rPr>
              <a:t>gcmc</a:t>
            </a:r>
            <a:r>
              <a:rPr lang="en-US" sz="1200"/>
              <a:t>” for both username and password. Otherwise app stays in view-only mode.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8A047-EEBE-5838-A575-AF405E508E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091" b="89091" l="5147" r="89706">
                        <a14:foregroundMark x1="10294" y1="41818" x2="55882" y2="43636"/>
                        <a14:foregroundMark x1="55882" y1="43636" x2="41176" y2="60000"/>
                        <a14:foregroundMark x1="52206" y1="43636" x2="5147" y2="4545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147" y="1367065"/>
            <a:ext cx="1060847" cy="4290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1D7CF6F-35E9-A9E8-1D34-8981A45678F3}"/>
              </a:ext>
            </a:extLst>
          </p:cNvPr>
          <p:cNvSpPr txBox="1"/>
          <p:nvPr/>
        </p:nvSpPr>
        <p:spPr>
          <a:xfrm>
            <a:off x="2806262" y="4748811"/>
            <a:ext cx="46395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>
                <a:solidFill>
                  <a:srgbClr val="FF0000"/>
                </a:solidFill>
              </a:rPr>
              <a:t>Data is LIVE. </a:t>
            </a:r>
            <a:r>
              <a:rPr lang="en-US" sz="1200" b="0" i="1" u="sng">
                <a:solidFill>
                  <a:srgbClr val="FF0000"/>
                </a:solidFill>
              </a:rPr>
              <a:t>Account is all-access</a:t>
            </a:r>
            <a:r>
              <a:rPr lang="en-US" sz="1200" b="0">
                <a:solidFill>
                  <a:srgbClr val="FF0000"/>
                </a:solidFill>
              </a:rPr>
              <a:t>, do not share with strangers.</a:t>
            </a:r>
          </a:p>
        </p:txBody>
      </p:sp>
    </p:spTree>
    <p:extLst>
      <p:ext uri="{BB962C8B-B14F-4D97-AF65-F5344CB8AC3E}">
        <p14:creationId xmlns:p14="http://schemas.microsoft.com/office/powerpoint/2010/main" val="2234007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C360F6-9A65-B305-E26C-05748C65A1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791821"/>
            <a:ext cx="2174846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What is it</a:t>
            </a:r>
          </a:p>
          <a:p>
            <a:endParaRPr lang="en-US">
              <a:cs typeface="Arial" panose="020B0604020202020204"/>
            </a:endParaRPr>
          </a:p>
          <a:p>
            <a:endParaRPr lang="en-AU">
              <a:cs typeface="Arial" panose="020B060402020202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4C36A3-9AB7-8416-D5A8-0A6F9AA68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6298" y="547234"/>
            <a:ext cx="6410402" cy="3749432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D75CD8AF-3137-ADE8-CCEF-7D9257135833}"/>
              </a:ext>
            </a:extLst>
          </p:cNvPr>
          <p:cNvSpPr txBox="1">
            <a:spLocks/>
          </p:cNvSpPr>
          <p:nvPr/>
        </p:nvSpPr>
        <p:spPr>
          <a:xfrm>
            <a:off x="288285" y="1480248"/>
            <a:ext cx="2432394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shared system of record for GCMC's workload — Vietnam Design, Melbourne Design, Production and Content all log into 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task captures its work types, asset counts and timeline.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turns that into live charts — by squad, campaign, asset type, and time of year.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more chasing a status update — stakeholders see it directly.</a:t>
            </a:r>
          </a:p>
          <a:p>
            <a:endParaRPr lang="en-AU" sz="1000" b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58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29039-5A5E-6D96-C192-F01F06189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52560D-D627-FF9F-8DB8-411A583E4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885934"/>
            <a:ext cx="2174846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Dashboard</a:t>
            </a:r>
          </a:p>
          <a:p>
            <a:endParaRPr lang="en-US">
              <a:cs typeface="Arial" panose="020B0604020202020204"/>
            </a:endParaRPr>
          </a:p>
          <a:p>
            <a:endParaRPr lang="en-AU">
              <a:cs typeface="Arial" panose="020B0604020202020204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76B5C9C-37D3-5C02-6DD8-D2D18F857CC8}"/>
              </a:ext>
            </a:extLst>
          </p:cNvPr>
          <p:cNvSpPr txBox="1">
            <a:spLocks/>
          </p:cNvSpPr>
          <p:nvPr/>
        </p:nvSpPr>
        <p:spPr>
          <a:xfrm>
            <a:off x="387382" y="1764241"/>
            <a:ext cx="3094546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highlight>
                  <a:srgbClr val="000054"/>
                </a:highlight>
              </a:rPr>
              <a:t>Asset count</a:t>
            </a:r>
          </a:p>
          <a:p>
            <a:r>
              <a:rPr lang="en-US" sz="800" b="0"/>
              <a:t>Total deliverables produced — every asset, across every task, in the selected period.</a:t>
            </a:r>
          </a:p>
          <a:p>
            <a:r>
              <a:rPr lang="en-US" sz="1000">
                <a:highlight>
                  <a:srgbClr val="000054"/>
                </a:highlight>
              </a:rPr>
              <a:t>Task count</a:t>
            </a:r>
          </a:p>
          <a:p>
            <a:r>
              <a:rPr lang="en-US" sz="800" b="0"/>
              <a:t>How many tasks that workload came from, and how many campaigns they span.</a:t>
            </a:r>
          </a:p>
          <a:p>
            <a:r>
              <a:rPr lang="en-US" sz="1000">
                <a:highlight>
                  <a:srgbClr val="000054"/>
                </a:highlight>
              </a:rPr>
              <a:t>Tasks by squad</a:t>
            </a:r>
          </a:p>
          <a:p>
            <a:r>
              <a:rPr lang="en-US" sz="800" b="0"/>
              <a:t>Which stakeholder teams are asking for work — request volume per squad.</a:t>
            </a:r>
          </a:p>
          <a:p>
            <a:r>
              <a:rPr lang="en-US" sz="1000">
                <a:highlight>
                  <a:srgbClr val="000054"/>
                </a:highlight>
              </a:rPr>
              <a:t>Assets by squad</a:t>
            </a:r>
          </a:p>
          <a:p>
            <a:r>
              <a:rPr lang="en-US" sz="800" b="0"/>
              <a:t>What each squad actually received — deliverable volume, not just request count.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8EE377-B055-3039-A0C3-5D6310E25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6335" y="1143377"/>
            <a:ext cx="4454885" cy="13698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F4C9D9-1F3B-9F64-F700-9F7809B53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335" y="2677967"/>
            <a:ext cx="4454885" cy="141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642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806C0-1FFF-25C8-1135-76D1A643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45ADDAA4-68D4-839B-BA85-D2E3C3E70BBE}"/>
              </a:ext>
            </a:extLst>
          </p:cNvPr>
          <p:cNvSpPr txBox="1">
            <a:spLocks/>
          </p:cNvSpPr>
          <p:nvPr/>
        </p:nvSpPr>
        <p:spPr>
          <a:xfrm>
            <a:off x="387382" y="1764241"/>
            <a:ext cx="3094546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highlight>
                  <a:srgbClr val="000054"/>
                </a:highlight>
              </a:rPr>
              <a:t>Asset mix</a:t>
            </a:r>
          </a:p>
          <a:p>
            <a:r>
              <a:rPr lang="en-US" sz="800" b="0"/>
              <a:t>The breakdown of what was produced — statics, display ads, video, print — as a share of the total.</a:t>
            </a:r>
          </a:p>
          <a:p>
            <a:endParaRPr lang="en-US" sz="800" b="0"/>
          </a:p>
          <a:p>
            <a:r>
              <a:rPr lang="en-US" sz="1000">
                <a:highlight>
                  <a:srgbClr val="000054"/>
                </a:highlight>
              </a:rPr>
              <a:t>Work type mix</a:t>
            </a:r>
          </a:p>
          <a:p>
            <a:r>
              <a:rPr lang="en-US" sz="800" b="0"/>
              <a:t>The breakdown of what kind of work it took to get there — editing, design, concepting — not just outputs.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5A76FD-9770-DEC6-88BB-607C54143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950" y="1716190"/>
            <a:ext cx="5199472" cy="1847352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49B342A-9179-3BBD-81DB-F134F9E26587}"/>
              </a:ext>
            </a:extLst>
          </p:cNvPr>
          <p:cNvSpPr txBox="1">
            <a:spLocks/>
          </p:cNvSpPr>
          <p:nvPr/>
        </p:nvSpPr>
        <p:spPr>
          <a:xfrm>
            <a:off x="419708" y="885934"/>
            <a:ext cx="2174846" cy="6135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highlight>
                  <a:srgbClr val="000054"/>
                </a:highlight>
              </a:rPr>
              <a:t>Dashboard</a:t>
            </a:r>
          </a:p>
          <a:p>
            <a:endParaRPr lang="en-US">
              <a:cs typeface="Arial" panose="020B0604020202020204"/>
            </a:endParaRPr>
          </a:p>
          <a:p>
            <a:endParaRPr lang="en-AU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43350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A5B7A-D7B6-C073-1E83-F6AA095C4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C3103A4-E597-61BA-26C7-8C886D637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308" y="342233"/>
            <a:ext cx="4961488" cy="201809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79CA132-529E-751A-F4E1-B27731041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0308" y="2429915"/>
            <a:ext cx="4958670" cy="2200642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3E65CD83-5DDC-000A-A16C-334C44DA3497}"/>
              </a:ext>
            </a:extLst>
          </p:cNvPr>
          <p:cNvSpPr txBox="1">
            <a:spLocks/>
          </p:cNvSpPr>
          <p:nvPr/>
        </p:nvSpPr>
        <p:spPr>
          <a:xfrm>
            <a:off x="387382" y="1764241"/>
            <a:ext cx="2427889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highlight>
                  <a:srgbClr val="000054"/>
                </a:highlight>
              </a:rPr>
              <a:t>Asset count by campaign</a:t>
            </a:r>
          </a:p>
          <a:p>
            <a:r>
              <a:rPr lang="en-US" sz="800" b="0"/>
              <a:t>Total deliverables produced per named campaign — Always On, BAU and Others excluded, so it's just the campaign-driven push.</a:t>
            </a:r>
          </a:p>
          <a:p>
            <a:endParaRPr lang="en-US" sz="800" b="0"/>
          </a:p>
          <a:p>
            <a:r>
              <a:rPr lang="en-US" sz="1000">
                <a:highlight>
                  <a:srgbClr val="000054"/>
                </a:highlight>
              </a:rPr>
              <a:t>Squads demand distribution</a:t>
            </a:r>
          </a:p>
          <a:p>
            <a:r>
              <a:rPr lang="en-US" sz="800" b="0"/>
              <a:t>For each asset type, who's asking for it — the split between Domestic, INTON and Other Stakeholders. Shows which deliverables are one squad's core demands.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7747D342-0029-460E-1C74-98A0E5B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885934"/>
            <a:ext cx="2174846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Dashboard</a:t>
            </a:r>
          </a:p>
          <a:p>
            <a:endParaRPr lang="en-US">
              <a:cs typeface="Arial" panose="020B0604020202020204"/>
            </a:endParaRPr>
          </a:p>
          <a:p>
            <a:endParaRPr lang="en-AU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34082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D9AE7-8C8A-A4A5-A27D-37052C5D1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>
            <a:extLst>
              <a:ext uri="{FF2B5EF4-FFF2-40B4-BE49-F238E27FC236}">
                <a16:creationId xmlns:a16="http://schemas.microsoft.com/office/drawing/2014/main" id="{F1CD64DB-368A-3D7D-5B9C-3BCDA9D09341}"/>
              </a:ext>
            </a:extLst>
          </p:cNvPr>
          <p:cNvSpPr txBox="1">
            <a:spLocks/>
          </p:cNvSpPr>
          <p:nvPr/>
        </p:nvSpPr>
        <p:spPr>
          <a:xfrm>
            <a:off x="387382" y="2555311"/>
            <a:ext cx="2427889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highlight>
                  <a:srgbClr val="000054"/>
                </a:highlight>
              </a:rPr>
              <a:t>Workload &amp; tasks across the year</a:t>
            </a:r>
          </a:p>
          <a:p>
            <a:r>
              <a:rPr lang="en-US" sz="800" b="0"/>
              <a:t>The line shows total assets delivered per month. Underneath, every task is plotted as a dot — height shows how big that task was, and dense clusters show busy periods, colour-coded by stakeholder group. </a:t>
            </a:r>
          </a:p>
          <a:p>
            <a:r>
              <a:rPr lang="en-US" sz="800" b="0"/>
              <a:t>Hover or click a dot to jump into that task's details.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00510F8-D428-C2A0-3AE4-E9D6CDB79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1781298"/>
            <a:ext cx="2174846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Dashboard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7B51F24-2E26-898A-6B7C-C1E5B343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040" y="1441418"/>
            <a:ext cx="5562191" cy="232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1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A6D02-E099-CF89-80C5-6B03E328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79C37F-7EB7-02FE-654F-341C9F4EA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593146"/>
            <a:ext cx="2922582" cy="613562"/>
          </a:xfrm>
        </p:spPr>
        <p:txBody>
          <a:bodyPr/>
          <a:lstStyle/>
          <a:p>
            <a:r>
              <a:rPr lang="en-US" sz="1800">
                <a:highlight>
                  <a:srgbClr val="000054"/>
                </a:highlight>
              </a:rPr>
              <a:t>GCMC Combined / standalone dashboard</a:t>
            </a:r>
            <a:endParaRPr lang="en-AU" sz="1800">
              <a:cs typeface="Arial" panose="020B060402020202020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68D7E9-6D87-A82A-30A0-94D90083D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427" y="1030556"/>
            <a:ext cx="1872754" cy="1501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59D07-7C80-108D-66BB-5DAC7E920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80" y="1098602"/>
            <a:ext cx="2048497" cy="19981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9C5BE2-8CC8-6239-9E2C-4B45D9AE0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683" y="2611368"/>
            <a:ext cx="1697498" cy="1637039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D92E6225-8DC5-1097-7934-CD2DABE1F58A}"/>
              </a:ext>
            </a:extLst>
          </p:cNvPr>
          <p:cNvSpPr txBox="1">
            <a:spLocks/>
          </p:cNvSpPr>
          <p:nvPr/>
        </p:nvSpPr>
        <p:spPr>
          <a:xfrm>
            <a:off x="419708" y="2135101"/>
            <a:ext cx="2432394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GCMC (default) — the combined view across all four functions.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Pick one function (e.g. Content) — a standalone view of just that team's workload.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Pick several (e.g. VN Design + Melbourne Design) — combines just those functions, so related teams can be viewed together without pulling in everyone.</a:t>
            </a:r>
            <a:endParaRPr lang="en-AU" sz="1000" b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36CA189C-80C9-5A27-C78A-90586CE469FF}"/>
              </a:ext>
            </a:extLst>
          </p:cNvPr>
          <p:cNvSpPr txBox="1">
            <a:spLocks/>
          </p:cNvSpPr>
          <p:nvPr/>
        </p:nvSpPr>
        <p:spPr>
          <a:xfrm>
            <a:off x="433633" y="1324779"/>
            <a:ext cx="2836791" cy="81032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dashboard view can be filtered by function — narrow it down to see one team's numbers on their own, or combine any group of them together.</a:t>
            </a:r>
            <a:endParaRPr lang="en-AU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6693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D6097-1E0F-E1AF-F793-5360453DF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>
            <a:extLst>
              <a:ext uri="{FF2B5EF4-FFF2-40B4-BE49-F238E27FC236}">
                <a16:creationId xmlns:a16="http://schemas.microsoft.com/office/drawing/2014/main" id="{162221DD-8FC1-4B8C-5756-3E25AB54E88F}"/>
              </a:ext>
            </a:extLst>
          </p:cNvPr>
          <p:cNvSpPr txBox="1">
            <a:spLocks/>
          </p:cNvSpPr>
          <p:nvPr/>
        </p:nvSpPr>
        <p:spPr>
          <a:xfrm>
            <a:off x="387382" y="1460733"/>
            <a:ext cx="2391853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/>
              <a:t>Controls the time window every chart on the dashboard reads from.</a:t>
            </a:r>
          </a:p>
          <a:p>
            <a:endParaRPr lang="en-US" sz="900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Total — all tasks ever logged, no date filter.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By year — one year at a time, picked from the dropdown (only years that actually have tasks appear).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By half — narrows further to H1 or H2 of the selected year.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Note: workload was only recorded from 2025 onward — anything before that isn't in the system, so year selection starts there.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A793D042-D78D-D023-2705-33C3DBFF5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404731"/>
            <a:ext cx="2278448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Span selection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5E65F4-5F0D-9B01-3536-75DC7399A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027" y="2009112"/>
            <a:ext cx="4448037" cy="656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4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0115E-83B3-B420-B86B-33C3214A7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>
            <a:extLst>
              <a:ext uri="{FF2B5EF4-FFF2-40B4-BE49-F238E27FC236}">
                <a16:creationId xmlns:a16="http://schemas.microsoft.com/office/drawing/2014/main" id="{FFB1BD81-FBCF-A393-5089-3FAA109A171D}"/>
              </a:ext>
            </a:extLst>
          </p:cNvPr>
          <p:cNvSpPr txBox="1">
            <a:spLocks/>
          </p:cNvSpPr>
          <p:nvPr/>
        </p:nvSpPr>
        <p:spPr>
          <a:xfrm>
            <a:off x="387382" y="1460733"/>
            <a:ext cx="2310774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/>
              <a:t>Turns every panel into a year-over-year view — 2026 against 2025, matched to the same date range (up to today) so the comparison is fair, not skewed by how much of the year has passed.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Big numbers get a % change and a same-period reference ("was 1,040 in 2025").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Bar and list panels (squads, asset mix, work type mix) show a % delta per item, plus "New" for anything that didn't exist last year.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The workload chart overlays both years so you can see exactly where this year is running ahead or behind.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0"/>
              <a:t>Campaign and squad-distribution charts follow the same solid-vs-faded pattern.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2FE33F5-B35F-9E10-05AC-754D8B49EF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708" y="404731"/>
            <a:ext cx="2278448" cy="613562"/>
          </a:xfrm>
        </p:spPr>
        <p:txBody>
          <a:bodyPr/>
          <a:lstStyle/>
          <a:p>
            <a:r>
              <a:rPr lang="en-US">
                <a:highlight>
                  <a:srgbClr val="000054"/>
                </a:highlight>
              </a:rPr>
              <a:t>Compare</a:t>
            </a:r>
          </a:p>
          <a:p>
            <a:r>
              <a:rPr lang="en-US">
                <a:highlight>
                  <a:srgbClr val="000054"/>
                </a:highlight>
              </a:rPr>
              <a:t>mode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535FFA-70B3-0B52-A253-F48C0FF16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497" y="909801"/>
            <a:ext cx="5907786" cy="33238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50CA9B-3866-AC85-BAC9-0D4C5F57F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5497" y="369487"/>
            <a:ext cx="3738087" cy="37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374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90A3-F2EC-81F7-8AF4-80370FA6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>
            <a:extLst>
              <a:ext uri="{FF2B5EF4-FFF2-40B4-BE49-F238E27FC236}">
                <a16:creationId xmlns:a16="http://schemas.microsoft.com/office/drawing/2014/main" id="{7F3AF82D-5973-EDEF-E2F0-35758C9FBAA1}"/>
              </a:ext>
            </a:extLst>
          </p:cNvPr>
          <p:cNvSpPr txBox="1">
            <a:spLocks/>
          </p:cNvSpPr>
          <p:nvPr/>
        </p:nvSpPr>
        <p:spPr>
          <a:xfrm>
            <a:off x="419708" y="1429260"/>
            <a:ext cx="2174846" cy="6135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highlight>
                  <a:srgbClr val="000054"/>
                </a:highlight>
              </a:rPr>
              <a:t>Task List</a:t>
            </a:r>
          </a:p>
          <a:p>
            <a:endParaRPr lang="en-US">
              <a:cs typeface="Arial" panose="020B0604020202020204"/>
            </a:endParaRPr>
          </a:p>
          <a:p>
            <a:endParaRPr lang="en-AU">
              <a:cs typeface="Arial" panose="020B0604020202020204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BFFE7E6-0EA7-F5F7-8977-B74987E99A02}"/>
              </a:ext>
            </a:extLst>
          </p:cNvPr>
          <p:cNvSpPr txBox="1">
            <a:spLocks/>
          </p:cNvSpPr>
          <p:nvPr/>
        </p:nvSpPr>
        <p:spPr>
          <a:xfrm>
            <a:off x="387382" y="2042822"/>
            <a:ext cx="2427889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0"/>
              <a:t>Every task GCMC has ever logged, in one searchable table — search by code or name, filter by squad, campaign, work type, asset type, person, size or function, and sort any column. Click a row to open and edit it.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E608C9-0261-F32D-586E-49A97FA4A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909" y="1058869"/>
            <a:ext cx="5860268" cy="302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6CFF-D754-C3A4-3A05-FCEC70BA6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>
            <a:extLst>
              <a:ext uri="{FF2B5EF4-FFF2-40B4-BE49-F238E27FC236}">
                <a16:creationId xmlns:a16="http://schemas.microsoft.com/office/drawing/2014/main" id="{80995274-FD6E-1F46-56A4-2345DDBAB2A3}"/>
              </a:ext>
            </a:extLst>
          </p:cNvPr>
          <p:cNvSpPr txBox="1">
            <a:spLocks/>
          </p:cNvSpPr>
          <p:nvPr/>
        </p:nvSpPr>
        <p:spPr>
          <a:xfrm>
            <a:off x="419708" y="986470"/>
            <a:ext cx="2174846" cy="6135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highlight>
                  <a:srgbClr val="000054"/>
                </a:highlight>
              </a:rPr>
              <a:t>Setting page</a:t>
            </a:r>
            <a:endParaRPr lang="en-AU">
              <a:cs typeface="Arial" panose="020B0604020202020204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B574322-CF3B-0EEC-453D-17F780AD9FD5}"/>
              </a:ext>
            </a:extLst>
          </p:cNvPr>
          <p:cNvSpPr txBox="1">
            <a:spLocks/>
          </p:cNvSpPr>
          <p:nvPr/>
        </p:nvSpPr>
        <p:spPr>
          <a:xfrm>
            <a:off x="387382" y="2042822"/>
            <a:ext cx="2427889" cy="26002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700" b="1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2892" indent="0" algn="ctr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783" indent="0" algn="ctr" defTabSz="685783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Wingdings" pitchFamily="2" charset="2"/>
              <a:buNone/>
              <a:tabLst/>
              <a:defRPr lang="en-US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75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accent4"/>
              </a:buClr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66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57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348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40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132" indent="0" algn="ctr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0"/>
              <a:t>Where GCMC customises the app to match how the team actually works — the lists, functions and defaults everything else in the app draws from.</a:t>
            </a:r>
            <a:endParaRPr lang="en-US" sz="100" b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61FC98-DABA-E020-ED17-A7CD72CC1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77" y="986470"/>
            <a:ext cx="5635585" cy="323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96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4E61B-ACB8-A5D5-A5EB-2205A8B1F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6F15-86BD-9EF4-4270-D2E49F50F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557" y="932519"/>
            <a:ext cx="8430423" cy="1313530"/>
          </a:xfrm>
        </p:spPr>
        <p:txBody>
          <a:bodyPr/>
          <a:lstStyle/>
          <a:p>
            <a:r>
              <a:rPr lang="en-US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GCMC Workload report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BBFB78-2D46-DC9F-A78D-7D6373421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557" y="1189097"/>
            <a:ext cx="8430423" cy="1056952"/>
          </a:xfrm>
        </p:spPr>
        <p:txBody>
          <a:bodyPr/>
          <a:lstStyle/>
          <a:p>
            <a:r>
              <a:rPr lang="en-US" sz="4000"/>
              <a:t>Add / migration guide</a:t>
            </a:r>
          </a:p>
        </p:txBody>
      </p:sp>
    </p:spTree>
    <p:extLst>
      <p:ext uri="{BB962C8B-B14F-4D97-AF65-F5344CB8AC3E}">
        <p14:creationId xmlns:p14="http://schemas.microsoft.com/office/powerpoint/2010/main" val="2917102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F8F9C686-0A60-1599-5643-FF4317B57904}"/>
              </a:ext>
            </a:extLst>
          </p:cNvPr>
          <p:cNvGrpSpPr/>
          <p:nvPr/>
        </p:nvGrpSpPr>
        <p:grpSpPr>
          <a:xfrm>
            <a:off x="463957" y="1328810"/>
            <a:ext cx="8211581" cy="2865922"/>
            <a:chOff x="396324" y="855843"/>
            <a:chExt cx="5117103" cy="2865922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5D26015-615F-480C-5AB3-AD350BFBC92B}"/>
                </a:ext>
              </a:extLst>
            </p:cNvPr>
            <p:cNvSpPr/>
            <p:nvPr/>
          </p:nvSpPr>
          <p:spPr>
            <a:xfrm>
              <a:off x="396324" y="855843"/>
              <a:ext cx="5117103" cy="2865922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435A107-23C1-50C0-5F73-C5C22781997B}"/>
                </a:ext>
              </a:extLst>
            </p:cNvPr>
            <p:cNvSpPr txBox="1"/>
            <p:nvPr/>
          </p:nvSpPr>
          <p:spPr>
            <a:xfrm>
              <a:off x="614855" y="1597903"/>
              <a:ext cx="4572000" cy="15465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105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Squads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stakeholder teams requesting work (DOM, INTON, Alumni, etc.)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Campaigns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named campaigns or initiatives tasks are logged against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Work Types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kinds of work performed (Graphic design, Video editing, Articles writing etc.)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Asset Types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kinds of deliverables produced (Statics, Display ads, Articles, etc.)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Functions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four GCMC teams that record workload (Vietnam Design, Melbourne Design, Production, Content), each with its own colour and task-form tab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People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the team roster tasks get assigned to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050" b="1"/>
                <a:t>Task sizes </a:t>
              </a:r>
              <a:r>
                <a:rPr lang="en-US" sz="1050">
                  <a:solidFill>
                    <a:schemeClr val="bg1">
                      <a:lumMod val="50000"/>
                    </a:schemeClr>
                  </a:solidFill>
                </a:rPr>
                <a:t>— XS–XL, each with a default turnaround used to auto-fill new tasks' end dates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E02F10B-F55B-744D-F3A7-D985C8CC0AE8}"/>
                </a:ext>
              </a:extLst>
            </p:cNvPr>
            <p:cNvSpPr txBox="1"/>
            <p:nvPr/>
          </p:nvSpPr>
          <p:spPr>
            <a:xfrm>
              <a:off x="614855" y="1300563"/>
              <a:ext cx="457200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>
                  <a:solidFill>
                    <a:srgbClr val="E61E2A"/>
                  </a:solidFill>
                </a:rPr>
                <a:t>Go through the setting to see how each group is defined. This includes 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F1FF5EC-EC27-E8D8-E9B8-C9184C3A8C8D}"/>
              </a:ext>
            </a:extLst>
          </p:cNvPr>
          <p:cNvSpPr txBox="1"/>
          <p:nvPr/>
        </p:nvSpPr>
        <p:spPr>
          <a:xfrm>
            <a:off x="497738" y="428276"/>
            <a:ext cx="1880602" cy="4616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 algn="l"/>
            <a:r>
              <a:rPr lang="en-US" sz="2400" b="1">
                <a:solidFill>
                  <a:srgbClr val="E61E2A"/>
                </a:solidFill>
              </a:rPr>
              <a:t>Preparation</a:t>
            </a:r>
            <a:endParaRPr lang="en-US" sz="2400" b="1" dirty="0">
              <a:solidFill>
                <a:srgbClr val="E61E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687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904E4-2764-9FE1-70BB-B05BE9FA3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023E849-95B8-EEAF-ED9E-CE306072B022}"/>
              </a:ext>
            </a:extLst>
          </p:cNvPr>
          <p:cNvGrpSpPr/>
          <p:nvPr/>
        </p:nvGrpSpPr>
        <p:grpSpPr>
          <a:xfrm>
            <a:off x="427922" y="1148631"/>
            <a:ext cx="4324256" cy="1495471"/>
            <a:chOff x="427922" y="1148631"/>
            <a:chExt cx="4324256" cy="1495471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01A1B7E-CD58-94C4-5E5A-B08AF4C13531}"/>
                </a:ext>
              </a:extLst>
            </p:cNvPr>
            <p:cNvSpPr/>
            <p:nvPr/>
          </p:nvSpPr>
          <p:spPr>
            <a:xfrm>
              <a:off x="427922" y="1148631"/>
              <a:ext cx="4324256" cy="1495471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711EC-0210-BB8E-D879-1B6DE9013E95}"/>
                </a:ext>
              </a:extLst>
            </p:cNvPr>
            <p:cNvSpPr txBox="1"/>
            <p:nvPr/>
          </p:nvSpPr>
          <p:spPr>
            <a:xfrm>
              <a:off x="630681" y="1620427"/>
              <a:ext cx="3846731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/>
                <a:t>Check existing items carefully before adding a new one — it's easy to accidentally create two entries for the same thing (e.g. "DOM" and "Domestic"). Duplicates split the data and quietly break the dashboard's numbers.</a:t>
              </a:r>
              <a:endParaRPr lang="en-US" sz="105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FC5411-57F1-7CFC-F63E-15A32D9D28BD}"/>
                </a:ext>
              </a:extLst>
            </p:cNvPr>
            <p:cNvSpPr txBox="1"/>
            <p:nvPr/>
          </p:nvSpPr>
          <p:spPr>
            <a:xfrm>
              <a:off x="630681" y="1343428"/>
              <a:ext cx="384673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rgbClr val="E61E2A"/>
                  </a:solidFill>
                </a:rPr>
                <a:t>Watch for duplicates. 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981132A-69CC-365A-7B5A-4FF2759BDCEC}"/>
              </a:ext>
            </a:extLst>
          </p:cNvPr>
          <p:cNvSpPr txBox="1"/>
          <p:nvPr/>
        </p:nvSpPr>
        <p:spPr>
          <a:xfrm>
            <a:off x="497737" y="428276"/>
            <a:ext cx="3299500" cy="4616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 algn="l"/>
            <a:r>
              <a:rPr lang="en-US" sz="2400" b="1">
                <a:solidFill>
                  <a:srgbClr val="E61E2A"/>
                </a:solidFill>
              </a:rPr>
              <a:t>Important notes</a:t>
            </a:r>
            <a:endParaRPr lang="en-US" sz="2400" b="1" dirty="0">
              <a:solidFill>
                <a:srgbClr val="E61E2A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E83F644-9B39-5A8B-2DE8-0EAF4781FCB2}"/>
              </a:ext>
            </a:extLst>
          </p:cNvPr>
          <p:cNvGrpSpPr/>
          <p:nvPr/>
        </p:nvGrpSpPr>
        <p:grpSpPr>
          <a:xfrm>
            <a:off x="427922" y="2787494"/>
            <a:ext cx="4324256" cy="1495471"/>
            <a:chOff x="427922" y="1148631"/>
            <a:chExt cx="4324256" cy="149547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F4665779-3DEA-7ABF-BBB1-6EE2D3E913C1}"/>
                </a:ext>
              </a:extLst>
            </p:cNvPr>
            <p:cNvSpPr/>
            <p:nvPr/>
          </p:nvSpPr>
          <p:spPr>
            <a:xfrm>
              <a:off x="427922" y="1148631"/>
              <a:ext cx="4324256" cy="1495471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447FFD0-43C0-22AE-06FB-1F6A13A2430D}"/>
                </a:ext>
              </a:extLst>
            </p:cNvPr>
            <p:cNvSpPr txBox="1"/>
            <p:nvPr/>
          </p:nvSpPr>
          <p:spPr>
            <a:xfrm>
              <a:off x="630681" y="1620427"/>
              <a:ext cx="3846731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/>
                <a:t>Each item shows its task count — treat that as a warning sign. Renaming is usually fine (it rewrites every task that uses it), but removing something with tasks attached will reassign those tasks to "Others."</a:t>
              </a:r>
              <a:endParaRPr lang="en-US" sz="105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54D6D6-35A5-16A4-5A5C-ACEABD54784D}"/>
                </a:ext>
              </a:extLst>
            </p:cNvPr>
            <p:cNvSpPr txBox="1"/>
            <p:nvPr/>
          </p:nvSpPr>
          <p:spPr>
            <a:xfrm>
              <a:off x="630681" y="1343428"/>
              <a:ext cx="384673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rgbClr val="E61E2A"/>
                  </a:solidFill>
                </a:rPr>
                <a:t>Be careful renaming/removing items in use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5854A09-29F3-F68B-77DC-00C481180751}"/>
              </a:ext>
            </a:extLst>
          </p:cNvPr>
          <p:cNvGrpSpPr/>
          <p:nvPr/>
        </p:nvGrpSpPr>
        <p:grpSpPr>
          <a:xfrm>
            <a:off x="4819744" y="1148630"/>
            <a:ext cx="3896334" cy="3134335"/>
            <a:chOff x="427922" y="1148631"/>
            <a:chExt cx="4324256" cy="149547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DBADFFD-3C0E-AF35-72FA-96F0E40A3AC2}"/>
                </a:ext>
              </a:extLst>
            </p:cNvPr>
            <p:cNvSpPr/>
            <p:nvPr/>
          </p:nvSpPr>
          <p:spPr>
            <a:xfrm>
              <a:off x="427922" y="1148631"/>
              <a:ext cx="4324256" cy="1495471"/>
            </a:xfrm>
            <a:prstGeom prst="roundRect">
              <a:avLst>
                <a:gd name="adj" fmla="val 7760"/>
              </a:avLst>
            </a:prstGeom>
            <a:solidFill>
              <a:srgbClr val="E61E2A"/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rgbClr val="C0000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0458A27-A022-816A-6A2F-252D66E885DD}"/>
                </a:ext>
              </a:extLst>
            </p:cNvPr>
            <p:cNvSpPr txBox="1"/>
            <p:nvPr/>
          </p:nvSpPr>
          <p:spPr>
            <a:xfrm>
              <a:off x="630681" y="1620427"/>
              <a:ext cx="3846731" cy="8150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b="1" i="1">
                  <a:solidFill>
                    <a:schemeClr val="bg1"/>
                  </a:solidFill>
                </a:rPr>
                <a:t>This is the one that matters most: every team needs to define "a unit of work" or "an asset" the same way, or add a new one that makes sense</a:t>
              </a:r>
            </a:p>
            <a:p>
              <a:endParaRPr lang="en-US" sz="1050">
                <a:solidFill>
                  <a:schemeClr val="bg1"/>
                </a:solidFill>
              </a:endParaRPr>
            </a:p>
            <a:p>
              <a:r>
                <a:rPr lang="en-US" sz="1050">
                  <a:solidFill>
                    <a:schemeClr val="bg1"/>
                  </a:solidFill>
                </a:rPr>
                <a:t>Refer to VN Design's existing types (and their tasks) as a reference point before inventing new ones. Keep categories broad — things like "Paragraphs," "Lines," "Minutes of shooting," or "Photos taken" are too granular; stick to categories the whole team can count consistently.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58F7984-C5BC-D214-4B39-2D59087A13AA}"/>
                </a:ext>
              </a:extLst>
            </p:cNvPr>
            <p:cNvSpPr txBox="1"/>
            <p:nvPr/>
          </p:nvSpPr>
          <p:spPr>
            <a:xfrm>
              <a:off x="630681" y="1343428"/>
              <a:ext cx="3846731" cy="2202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chemeClr val="bg1"/>
                  </a:solidFill>
                </a:rPr>
                <a:t>Work / Asset types — agree on a shared definition.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9880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541D-805A-227A-1478-7FD7CB219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B2326B-5141-BBA5-5BEE-2ADF366B1B46}"/>
              </a:ext>
            </a:extLst>
          </p:cNvPr>
          <p:cNvGrpSpPr/>
          <p:nvPr/>
        </p:nvGrpSpPr>
        <p:grpSpPr>
          <a:xfrm>
            <a:off x="4819744" y="1182840"/>
            <a:ext cx="3324272" cy="3199223"/>
            <a:chOff x="427922" y="1148631"/>
            <a:chExt cx="4324256" cy="132315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716A98E-1CCC-444F-E738-0B5EB4E2419D}"/>
                </a:ext>
              </a:extLst>
            </p:cNvPr>
            <p:cNvSpPr/>
            <p:nvPr/>
          </p:nvSpPr>
          <p:spPr>
            <a:xfrm>
              <a:off x="427922" y="1148631"/>
              <a:ext cx="4324256" cy="1323158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FFA940-88DF-EB8B-492B-05269B1F9357}"/>
                </a:ext>
              </a:extLst>
            </p:cNvPr>
            <p:cNvSpPr txBox="1"/>
            <p:nvPr/>
          </p:nvSpPr>
          <p:spPr>
            <a:xfrm>
              <a:off x="630681" y="1577551"/>
              <a:ext cx="3846731" cy="7064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/>
                <a:t>(e.g. a new "Media" function). This only controls what shows up on that function's tab in the task form — it's purely for keeping the form uncluttered, and doesn't touch any task that's already been recorded. </a:t>
              </a:r>
            </a:p>
            <a:p>
              <a:endParaRPr lang="en-US" sz="1050" i="1"/>
            </a:p>
            <a:p>
              <a:r>
                <a:rPr lang="en-US" sz="1050" i="1"/>
                <a:t>Note: Vietnam Design and Melbourne Design stay as separate functions, but can be grouped together as "Design" when viewing the dashboard.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1712005-2B60-413E-2464-D21425653303}"/>
                </a:ext>
              </a:extLst>
            </p:cNvPr>
            <p:cNvSpPr txBox="1"/>
            <p:nvPr/>
          </p:nvSpPr>
          <p:spPr>
            <a:xfrm>
              <a:off x="630681" y="1346790"/>
              <a:ext cx="3846731" cy="1909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rgbClr val="E61E2A"/>
                  </a:solidFill>
                </a:rPr>
                <a:t>Functions </a:t>
              </a:r>
              <a:r>
                <a:rPr lang="en-US" sz="1200" b="1"/>
                <a:t>— add/remove as your team structure changes 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A1B79C1-2C5F-29DA-2080-A8368BF0E1B9}"/>
              </a:ext>
            </a:extLst>
          </p:cNvPr>
          <p:cNvSpPr txBox="1"/>
          <p:nvPr/>
        </p:nvSpPr>
        <p:spPr>
          <a:xfrm>
            <a:off x="497738" y="428276"/>
            <a:ext cx="3511208" cy="4616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 sz="2400" b="1">
                <a:solidFill>
                  <a:srgbClr val="E61E2A"/>
                </a:solidFill>
              </a:rPr>
              <a:t>Important notes</a:t>
            </a:r>
            <a:endParaRPr lang="en-US" sz="2400" b="1" dirty="0">
              <a:solidFill>
                <a:srgbClr val="E61E2A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7D627C-ACD2-EECC-8FFC-77DCD1983408}"/>
              </a:ext>
            </a:extLst>
          </p:cNvPr>
          <p:cNvGrpSpPr/>
          <p:nvPr/>
        </p:nvGrpSpPr>
        <p:grpSpPr>
          <a:xfrm>
            <a:off x="427921" y="1182840"/>
            <a:ext cx="4324255" cy="1828798"/>
            <a:chOff x="427922" y="1306309"/>
            <a:chExt cx="4324256" cy="133779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2D3829F-C50B-F45B-0A2D-AF180A930A55}"/>
                </a:ext>
              </a:extLst>
            </p:cNvPr>
            <p:cNvSpPr/>
            <p:nvPr/>
          </p:nvSpPr>
          <p:spPr>
            <a:xfrm>
              <a:off x="427922" y="1306309"/>
              <a:ext cx="4324256" cy="1337792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70657D9-090C-F612-6817-ACFB78AD5EE9}"/>
                </a:ext>
              </a:extLst>
            </p:cNvPr>
            <p:cNvSpPr txBox="1"/>
            <p:nvPr/>
          </p:nvSpPr>
          <p:spPr>
            <a:xfrm>
              <a:off x="630681" y="1889136"/>
              <a:ext cx="3846731" cy="4295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/>
                <a:t>Nothing on the dashboard uses this yet, but it's reserved for future team-level reporting. Fill in the monday.com user ID where you have it — that's what lets the monday auto-fill assign people automatically when it matches a task.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68B337-794F-334A-B639-4B0CCE9B1F20}"/>
                </a:ext>
              </a:extLst>
            </p:cNvPr>
            <p:cNvSpPr txBox="1"/>
            <p:nvPr/>
          </p:nvSpPr>
          <p:spPr>
            <a:xfrm>
              <a:off x="630681" y="1472767"/>
              <a:ext cx="3846731" cy="3377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rgbClr val="E61E2A"/>
                  </a:solidFill>
                </a:rPr>
                <a:t>People</a:t>
              </a:r>
              <a:r>
                <a:rPr lang="en-US" sz="1200" b="1"/>
                <a:t> — the roster is already populated, add more as needed.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852B611-254B-C7B3-047E-31A1E6BFE711}"/>
              </a:ext>
            </a:extLst>
          </p:cNvPr>
          <p:cNvGrpSpPr/>
          <p:nvPr/>
        </p:nvGrpSpPr>
        <p:grpSpPr>
          <a:xfrm>
            <a:off x="427922" y="3136803"/>
            <a:ext cx="4324256" cy="1245260"/>
            <a:chOff x="427922" y="3037706"/>
            <a:chExt cx="4324256" cy="1245260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F7AB9D8B-B1C9-D6DC-22C5-0F8149F607CF}"/>
                </a:ext>
              </a:extLst>
            </p:cNvPr>
            <p:cNvSpPr/>
            <p:nvPr/>
          </p:nvSpPr>
          <p:spPr>
            <a:xfrm>
              <a:off x="427922" y="3037706"/>
              <a:ext cx="4324256" cy="1245260"/>
            </a:xfrm>
            <a:prstGeom prst="roundRect">
              <a:avLst>
                <a:gd name="adj" fmla="val 776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93B9323-8156-9747-A705-7B6690F4AEBD}"/>
                </a:ext>
              </a:extLst>
            </p:cNvPr>
            <p:cNvSpPr txBox="1"/>
            <p:nvPr/>
          </p:nvSpPr>
          <p:spPr>
            <a:xfrm>
              <a:off x="630681" y="3580721"/>
              <a:ext cx="3846731" cy="57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/>
                <a:t>When a size (XS–XL) is picked, the app adds that size's duration to the start date to suggest an end date. The current durations mirror GCMC's existing T-shirt sizing definitions.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61C4CF7-B51A-2DAA-CCF8-658929AECC4F}"/>
                </a:ext>
              </a:extLst>
            </p:cNvPr>
            <p:cNvSpPr txBox="1"/>
            <p:nvPr/>
          </p:nvSpPr>
          <p:spPr>
            <a:xfrm>
              <a:off x="630681" y="3226374"/>
              <a:ext cx="384673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>
                  <a:solidFill>
                    <a:srgbClr val="E61E2A"/>
                  </a:solidFill>
                </a:rPr>
                <a:t>Task sizes </a:t>
              </a:r>
              <a:r>
                <a:rPr lang="en-US" sz="1200" b="1"/>
                <a:t>— controls the auto-filled end date.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109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C879-1B06-8C45-A346-FC759DC41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F8D0F28-EC3D-46D9-C710-18C94B05082D}"/>
              </a:ext>
            </a:extLst>
          </p:cNvPr>
          <p:cNvSpPr txBox="1"/>
          <p:nvPr/>
        </p:nvSpPr>
        <p:spPr>
          <a:xfrm>
            <a:off x="3709398" y="1307868"/>
            <a:ext cx="3511208" cy="369332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 sz="1800" b="1">
                <a:solidFill>
                  <a:srgbClr val="E61E2A"/>
                </a:solidFill>
              </a:rPr>
              <a:t>Add new task</a:t>
            </a:r>
            <a:endParaRPr lang="en-US" sz="1800" b="1" dirty="0">
              <a:solidFill>
                <a:srgbClr val="E61E2A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2A645E2-21F8-64B5-6314-82845BF99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71" y="169002"/>
            <a:ext cx="3177648" cy="47084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A270F11-04C0-6655-60B2-DC07014DF0E6}"/>
              </a:ext>
            </a:extLst>
          </p:cNvPr>
          <p:cNvSpPr txBox="1"/>
          <p:nvPr/>
        </p:nvSpPr>
        <p:spPr>
          <a:xfrm>
            <a:off x="3749938" y="1899812"/>
            <a:ext cx="2551766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Task code &amp; name</a:t>
            </a:r>
          </a:p>
          <a:p>
            <a:pPr marL="0" marR="0" indent="0" algn="l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Paste the exact task name from monday.com, code included — the app detects the code and formats it automatically. If that code's already registered, you'll be prompted to edit the existing task instead of creating a duplicate. Codes are optional; they're a VN Design convention only.</a:t>
            </a:r>
          </a:p>
          <a:p>
            <a:pPr marL="0" marR="0" indent="0" algn="l" rtl="0">
              <a:buNone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algn="l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monday.com auto-fill</a:t>
            </a:r>
          </a:p>
          <a:p>
            <a:pPr marL="0" marR="0" indent="0" algn="l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(2025-26 only). Click the button to search monday.com. Pick a result from the dropdown and it auto-fills:</a:t>
            </a:r>
          </a:p>
          <a:p>
            <a:pPr marL="0" marR="0" indent="0" algn="l" rtl="0">
              <a:buNone/>
            </a:pPr>
            <a:endParaRPr lang="en-US" sz="800" b="0" i="0">
              <a:solidFill>
                <a:schemeClr val="bg2">
                  <a:lumMod val="1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algn="l" rtl="0">
              <a:buFont typeface="Arial" panose="020B0604020202020204" pitchFamily="34" charset="0"/>
              <a:buChar char="•"/>
            </a:pPr>
            <a:r>
              <a:rPr lang="en-US" sz="800" b="1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T-shirt size</a:t>
            </a:r>
          </a:p>
          <a:p>
            <a:pPr marL="0" marR="0" indent="0" algn="l" rtl="0">
              <a:buFont typeface="Arial" panose="020B0604020202020204" pitchFamily="34" charset="0"/>
              <a:buChar char="•"/>
            </a:pPr>
            <a:r>
              <a:rPr lang="en-US" sz="800" b="1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Person in charge</a:t>
            </a:r>
          </a:p>
          <a:p>
            <a:pPr marL="0" marR="0" indent="0" algn="l" rtl="0">
              <a:buFont typeface="Arial" panose="020B0604020202020204" pitchFamily="34" charset="0"/>
              <a:buChar char="•"/>
            </a:pPr>
            <a:r>
              <a:rPr lang="en-US" sz="800" b="1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 and end dates (not always available)</a:t>
            </a:r>
          </a:p>
          <a:p>
            <a:pPr marL="0" marR="0" indent="0" algn="l" rtl="0">
              <a:buFont typeface="Arial" panose="020B0604020202020204" pitchFamily="34" charset="0"/>
              <a:buChar char="•"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algn="l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Squad &amp; campaign</a:t>
            </a:r>
          </a:p>
          <a:p>
            <a:pPr marL="0" marR="0" indent="0" algn="l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Fill these in — certain keywords in the task name can trigger auto-fill.</a:t>
            </a:r>
          </a:p>
          <a:p>
            <a:pPr marL="0" marR="0" indent="0" algn="l" rtl="0">
              <a:buNone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algn="l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Task size</a:t>
            </a:r>
          </a:p>
          <a:p>
            <a:pPr marL="0" marR="0" indent="0" algn="l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 it if auto-fill didn't already set it.</a:t>
            </a:r>
          </a:p>
          <a:p>
            <a:pPr marL="0" marR="0" indent="0" algn="l" rtl="0">
              <a:buNone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46D5E8-1DE6-B00B-FF73-362EFD228ECB}"/>
              </a:ext>
            </a:extLst>
          </p:cNvPr>
          <p:cNvSpPr txBox="1"/>
          <p:nvPr/>
        </p:nvSpPr>
        <p:spPr>
          <a:xfrm>
            <a:off x="6551106" y="639416"/>
            <a:ext cx="235662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800">
              <a:solidFill>
                <a:srgbClr val="A6A59B"/>
              </a:solidFill>
              <a:highlight>
                <a:srgbClr val="000054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800" b="1">
                <a:solidFill>
                  <a:schemeClr val="bg1"/>
                </a:solidFill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Function tabs</a:t>
            </a:r>
          </a:p>
          <a:p>
            <a:r>
              <a:rPr lang="en-US" sz="8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Enable whichever functions are contributing — each gets its own tab for work types and asset counts, and more than one can log against the same task. Add a new type if it's genuinely missing, but think twice first. Big campaigns can have all four functions enabled at once.</a:t>
            </a:r>
          </a:p>
          <a:p>
            <a:br>
              <a:rPr lang="en-US" sz="800" i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800" i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Function-specific timeline: leave this off for now — the dashboard doesn't use it yet. Timeline stays task-level (one shared start/end for the whole task).</a:t>
            </a:r>
          </a:p>
          <a:p>
            <a:pPr marL="0" marR="0" indent="0" rtl="0">
              <a:buNone/>
            </a:pPr>
            <a:endParaRPr lang="en-US" sz="800" b="1" i="0">
              <a:solidFill>
                <a:schemeClr val="bg1"/>
              </a:solidFill>
              <a:effectLst/>
              <a:highlight>
                <a:srgbClr val="000054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Person in charge</a:t>
            </a:r>
          </a:p>
          <a:p>
            <a:pPr marL="0" marR="0" indent="0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and add as needed — auto-fills from monday.com if that person's name and monday ID are set up in Settings.</a:t>
            </a:r>
          </a:p>
          <a:p>
            <a:pPr marL="0" marR="0" indent="0" rtl="0">
              <a:buNone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 Start / end dates &amp; half of year</a:t>
            </a:r>
          </a:p>
          <a:p>
            <a:pPr marL="0" marR="0" indent="0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 date is auto-filled from a valid code or monday's Timeline column.</a:t>
            </a:r>
          </a:p>
          <a:p>
            <a:pPr marL="0" marR="0" indent="0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 date is auto-filled from </a:t>
            </a:r>
          </a:p>
          <a:p>
            <a:pPr marL="0" marR="0" indent="0" rtl="0">
              <a:buNone/>
            </a:pPr>
            <a:r>
              <a:rPr lang="en-US" sz="8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 </a:t>
            </a: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shirt size (or from monday, if available) — override either manually if needed. Half of year</a:t>
            </a:r>
          </a:p>
          <a:p>
            <a:pPr marL="0" marR="0" indent="0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auto-fills too, based on the end date.</a:t>
            </a:r>
          </a:p>
          <a:p>
            <a:pPr marL="0" marR="0" indent="0" rtl="0">
              <a:buNone/>
            </a:pPr>
            <a:endParaRPr lang="en-US" sz="800" b="0" i="0">
              <a:solidFill>
                <a:srgbClr val="A6A59B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indent="0" rtl="0">
              <a:buNone/>
            </a:pPr>
            <a:r>
              <a:rPr lang="en-US" sz="800" b="1" i="0">
                <a:solidFill>
                  <a:schemeClr val="bg1"/>
                </a:solidFill>
                <a:effectLst/>
                <a:highlight>
                  <a:srgbClr val="000054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 Register</a:t>
            </a:r>
          </a:p>
          <a:p>
            <a:pPr marL="0" marR="0" indent="0" rtl="0">
              <a:buNone/>
            </a:pPr>
            <a:r>
              <a:rPr lang="en-US" sz="800" b="0" i="0">
                <a:solidFill>
                  <a:schemeClr val="bg2">
                    <a:lumMod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 required fields are filled, click Register task — it saves straight to the database and the dashboard updates live, no refresh needed.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532553C-D4F2-ABA5-B23E-13C43311C8E9}"/>
              </a:ext>
            </a:extLst>
          </p:cNvPr>
          <p:cNvCxnSpPr/>
          <p:nvPr/>
        </p:nvCxnSpPr>
        <p:spPr>
          <a:xfrm>
            <a:off x="6396297" y="744782"/>
            <a:ext cx="0" cy="408633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C003945C-F2E3-4107-165C-F028FBC38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189" y="682922"/>
            <a:ext cx="573672" cy="59861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5E411B9-7A32-0ED7-5483-EC9FF2F73D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652" y="2894827"/>
            <a:ext cx="408485" cy="15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34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9A8C4-287F-EBCB-9B2C-1D1419E22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5D7C5C1-4A28-E22B-5985-0B9BFF52238C}"/>
              </a:ext>
            </a:extLst>
          </p:cNvPr>
          <p:cNvSpPr txBox="1"/>
          <p:nvPr/>
        </p:nvSpPr>
        <p:spPr>
          <a:xfrm>
            <a:off x="3412576" y="3080814"/>
            <a:ext cx="2361883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Export your team's annual task list from monday.com and use it as your migration tracker — one row per task, checked off as it's added to the app. </a:t>
            </a:r>
          </a:p>
          <a:p>
            <a:endParaRPr lang="en-US" sz="9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 tasks are already multi-function collabs and exist in the system from another team's entry; for those, you don't need to re-create the task — just search for the task, add your function's tab with its own work types and asset counts.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CFFA27-DAAF-8AC4-E65E-C1680A181A80}"/>
              </a:ext>
            </a:extLst>
          </p:cNvPr>
          <p:cNvSpPr txBox="1"/>
          <p:nvPr/>
        </p:nvSpPr>
        <p:spPr>
          <a:xfrm>
            <a:off x="497738" y="428276"/>
            <a:ext cx="5677840" cy="4616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 sz="2400" b="1">
                <a:solidFill>
                  <a:srgbClr val="E61E2A"/>
                </a:solidFill>
              </a:rPr>
              <a:t>Recommended Migration process</a:t>
            </a:r>
            <a:endParaRPr lang="en-US" sz="2400" b="1" dirty="0">
              <a:solidFill>
                <a:srgbClr val="E61E2A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2E4A52-422E-621F-21D7-2CB365FCB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654" y="1286936"/>
            <a:ext cx="2106105" cy="83893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12C0FCD-BB1E-EA0A-B23B-AEA0CD17E883}"/>
              </a:ext>
            </a:extLst>
          </p:cNvPr>
          <p:cNvCxnSpPr>
            <a:cxnSpLocks/>
          </p:cNvCxnSpPr>
          <p:nvPr/>
        </p:nvCxnSpPr>
        <p:spPr>
          <a:xfrm>
            <a:off x="6040445" y="1065249"/>
            <a:ext cx="0" cy="3609966"/>
          </a:xfrm>
          <a:prstGeom prst="lin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7DADA7-D0F0-A720-0515-0A326F7F7E5A}"/>
              </a:ext>
            </a:extLst>
          </p:cNvPr>
          <p:cNvCxnSpPr>
            <a:cxnSpLocks/>
          </p:cNvCxnSpPr>
          <p:nvPr/>
        </p:nvCxnSpPr>
        <p:spPr>
          <a:xfrm>
            <a:off x="3081247" y="1065249"/>
            <a:ext cx="0" cy="3609966"/>
          </a:xfrm>
          <a:prstGeom prst="lin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7C609821-0124-9500-FDAE-DCAB173E9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95" y="1133236"/>
            <a:ext cx="1970467" cy="10588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742B302-9AF9-35FB-59E1-AAEA130420BA}"/>
              </a:ext>
            </a:extLst>
          </p:cNvPr>
          <p:cNvSpPr txBox="1"/>
          <p:nvPr/>
        </p:nvSpPr>
        <p:spPr>
          <a:xfrm>
            <a:off x="416090" y="3080814"/>
            <a:ext cx="239918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Before migrating anything, go into Settings and check what work/asset types your function will use. Reuse VN Design's existing definitions where they fit — only add new ones where your function genuinely needs a type that doesn't exist yet. </a:t>
            </a:r>
          </a:p>
          <a:p>
            <a:endParaRPr lang="en-US" sz="9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5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5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F273F5-8307-3BF8-CA28-2EA3E35CE865}"/>
              </a:ext>
            </a:extLst>
          </p:cNvPr>
          <p:cNvSpPr txBox="1"/>
          <p:nvPr/>
        </p:nvSpPr>
        <p:spPr>
          <a:xfrm>
            <a:off x="749986" y="2522864"/>
            <a:ext cx="18603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rgbClr val="E61E2A"/>
                </a:solidFill>
              </a:rPr>
              <a:t>Review and define your functions’s work types</a:t>
            </a:r>
            <a:endParaRPr lang="en-US" sz="1100" b="1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97889D-2CFF-A673-26C8-42C3C5BF8416}"/>
              </a:ext>
            </a:extLst>
          </p:cNvPr>
          <p:cNvSpPr txBox="1"/>
          <p:nvPr/>
        </p:nvSpPr>
        <p:spPr>
          <a:xfrm>
            <a:off x="6398802" y="3084286"/>
            <a:ext cx="2362319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 tasks into the app using the tracker as your checklist. Since the dashboard updates live, review it as you go — a quick sense-check that squads, campaigns and asset counts are landing where you'd expect catches mistakes early, before the whole team's history is migrated.</a:t>
            </a:r>
          </a:p>
          <a:p>
            <a:b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9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9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D50D6B-7AD5-B33F-9358-343DBC717DF5}"/>
              </a:ext>
            </a:extLst>
          </p:cNvPr>
          <p:cNvSpPr/>
          <p:nvPr/>
        </p:nvSpPr>
        <p:spPr>
          <a:xfrm>
            <a:off x="497738" y="2617984"/>
            <a:ext cx="252248" cy="252248"/>
          </a:xfrm>
          <a:prstGeom prst="roundRect">
            <a:avLst/>
          </a:prstGeom>
          <a:solidFill>
            <a:srgbClr val="E61E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1</a:t>
            </a:r>
            <a:endParaRPr lang="en-US" sz="10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BF5666-1719-D84E-2EF9-94A21C07E17E}"/>
              </a:ext>
            </a:extLst>
          </p:cNvPr>
          <p:cNvSpPr txBox="1"/>
          <p:nvPr/>
        </p:nvSpPr>
        <p:spPr>
          <a:xfrm>
            <a:off x="3781754" y="2522864"/>
            <a:ext cx="17810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rgbClr val="E61E2A"/>
                </a:solidFill>
              </a:rPr>
              <a:t>Track progress and data with a task sheet</a:t>
            </a:r>
            <a:endParaRPr lang="en-US" sz="1100" b="1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CDF632C-51D0-BFC8-83F2-1364D639FD93}"/>
              </a:ext>
            </a:extLst>
          </p:cNvPr>
          <p:cNvSpPr/>
          <p:nvPr/>
        </p:nvSpPr>
        <p:spPr>
          <a:xfrm>
            <a:off x="3529506" y="2617984"/>
            <a:ext cx="252248" cy="252248"/>
          </a:xfrm>
          <a:prstGeom prst="roundRect">
            <a:avLst/>
          </a:prstGeom>
          <a:solidFill>
            <a:srgbClr val="E61E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2</a:t>
            </a:r>
            <a:endParaRPr lang="en-US" sz="10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E8DAD2-58B3-8D62-1A29-07AB8A771DF2}"/>
              </a:ext>
            </a:extLst>
          </p:cNvPr>
          <p:cNvSpPr txBox="1"/>
          <p:nvPr/>
        </p:nvSpPr>
        <p:spPr>
          <a:xfrm>
            <a:off x="6691054" y="2532854"/>
            <a:ext cx="19228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rgbClr val="E61E2A"/>
                </a:solidFill>
              </a:rPr>
              <a:t>Fill and review live</a:t>
            </a:r>
          </a:p>
          <a:p>
            <a:r>
              <a:rPr lang="en-US" sz="1100" b="1">
                <a:solidFill>
                  <a:srgbClr val="E61E2A"/>
                </a:solidFill>
              </a:rPr>
              <a:t>changes</a:t>
            </a:r>
            <a:endParaRPr lang="en-US" sz="1100" b="1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5B92CF8-6F8B-53BA-EE42-BB6D3D764206}"/>
              </a:ext>
            </a:extLst>
          </p:cNvPr>
          <p:cNvSpPr/>
          <p:nvPr/>
        </p:nvSpPr>
        <p:spPr>
          <a:xfrm>
            <a:off x="6438807" y="2627974"/>
            <a:ext cx="252248" cy="252248"/>
          </a:xfrm>
          <a:prstGeom prst="roundRect">
            <a:avLst/>
          </a:prstGeom>
          <a:solidFill>
            <a:srgbClr val="E61E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3</a:t>
            </a:r>
            <a:endParaRPr lang="en-US" sz="100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17AC0E9-34A5-39DC-0021-3196BF91297D}"/>
              </a:ext>
            </a:extLst>
          </p:cNvPr>
          <p:cNvGrpSpPr/>
          <p:nvPr/>
        </p:nvGrpSpPr>
        <p:grpSpPr>
          <a:xfrm>
            <a:off x="6376247" y="1133236"/>
            <a:ext cx="2386241" cy="1081757"/>
            <a:chOff x="6376247" y="1133236"/>
            <a:chExt cx="2386241" cy="108175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62A72B-ACF7-D42B-7A8D-FDEA48DEF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76247" y="1133236"/>
              <a:ext cx="1095545" cy="1081757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B782CF-2C2E-F936-0A69-D17BC688A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0730" y="1133236"/>
              <a:ext cx="1231758" cy="10588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3168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MIT brand">
      <a:dk1>
        <a:srgbClr val="000054"/>
      </a:dk1>
      <a:lt1>
        <a:srgbClr val="FFFFFF"/>
      </a:lt1>
      <a:dk2>
        <a:srgbClr val="FFFFFF"/>
      </a:dk2>
      <a:lt2>
        <a:srgbClr val="E2E5DF"/>
      </a:lt2>
      <a:accent1>
        <a:srgbClr val="000054"/>
      </a:accent1>
      <a:accent2>
        <a:srgbClr val="E51D2A"/>
      </a:accent2>
      <a:accent3>
        <a:srgbClr val="FAC800"/>
      </a:accent3>
      <a:accent4>
        <a:srgbClr val="E2E5DF"/>
      </a:accent4>
      <a:accent5>
        <a:srgbClr val="E51D2A"/>
      </a:accent5>
      <a:accent6>
        <a:srgbClr val="000054"/>
      </a:accent6>
      <a:hlink>
        <a:srgbClr val="000054"/>
      </a:hlink>
      <a:folHlink>
        <a:srgbClr val="0000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tx2"/>
        </a:solidFill>
      </a:spPr>
      <a:bodyPr vert="horz" wrap="none" lIns="91440" tIns="45720" rIns="91440" bIns="45720" rtlCol="0" anchor="t" anchorCtr="0">
        <a:spAutoFit/>
      </a:bodyPr>
      <a:lstStyle>
        <a:defPPr algn="l">
          <a:defRPr b="1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25 Brand Powerpoint_template" id="{0186B9E4-F573-2A44-99BE-086E06AD2FD4}" vid="{C05D0165-0C13-0B44-9989-A510483C5A0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DA2C7976B688499ECCD65F462E1360" ma:contentTypeVersion="19" ma:contentTypeDescription="Create a new document." ma:contentTypeScope="" ma:versionID="c2215155381f6e9c468b6bf23296fd9a">
  <xsd:schema xmlns:xsd="http://www.w3.org/2001/XMLSchema" xmlns:xs="http://www.w3.org/2001/XMLSchema" xmlns:p="http://schemas.microsoft.com/office/2006/metadata/properties" xmlns:ns2="b483c07b-55a3-4b61-b543-8301f17afd88" xmlns:ns3="89344371-4f1a-4776-806d-486a30df2c03" targetNamespace="http://schemas.microsoft.com/office/2006/metadata/properties" ma:root="true" ma:fieldsID="56443ec09528a2f9e540ec53c56c7a45" ns2:_="" ns3:_="">
    <xsd:import namespace="b483c07b-55a3-4b61-b543-8301f17afd88"/>
    <xsd:import namespace="89344371-4f1a-4776-806d-486a30df2c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83c07b-55a3-4b61-b543-8301f17afd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921d02d-b337-4ce5-bd1c-22d9132a6b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344371-4f1a-4776-806d-486a30df2c0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0782d39-53e5-437c-9f0e-e85259290a4e}" ma:internalName="TaxCatchAll" ma:showField="CatchAllData" ma:web="89344371-4f1a-4776-806d-486a30df2c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483c07b-55a3-4b61-b543-8301f17afd88">
      <Terms xmlns="http://schemas.microsoft.com/office/infopath/2007/PartnerControls"/>
    </lcf76f155ced4ddcb4097134ff3c332f>
    <TaxCatchAll xmlns="89344371-4f1a-4776-806d-486a30df2c03" xsi:nil="true"/>
  </documentManagement>
</p:properties>
</file>

<file path=customXml/itemProps1.xml><?xml version="1.0" encoding="utf-8"?>
<ds:datastoreItem xmlns:ds="http://schemas.openxmlformats.org/officeDocument/2006/customXml" ds:itemID="{B4C1E47D-066B-4784-9B78-DC3F9384DC2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FB0173-5F93-4E8A-9F78-021EF98A34D4}">
  <ds:schemaRefs>
    <ds:schemaRef ds:uri="89344371-4f1a-4776-806d-486a30df2c03"/>
    <ds:schemaRef ds:uri="b483c07b-55a3-4b61-b543-8301f17afd8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05765C3-25C3-4F19-97EA-F1894DE5CB44}">
  <ds:schemaRefs>
    <ds:schemaRef ds:uri="http://schemas.openxmlformats.org/package/2006/metadata/core-properties"/>
    <ds:schemaRef ds:uri="http://purl.org/dc/dcmitype/"/>
    <ds:schemaRef ds:uri="b483c07b-55a3-4b61-b543-8301f17afd88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89344371-4f1a-4776-806d-486a30df2c03"/>
    <ds:schemaRef ds:uri="http://schemas.microsoft.com/office/2006/metadata/properties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8c3d088b-6243-4963-a2e2-8b321ab7f8fc}" enabled="1" method="Standard" siteId="{d1323671-cdbe-4417-b4d4-bdb24b51316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2025 Brand Powerpoint_template</Template>
  <TotalTime>132</TotalTime>
  <Words>1829</Words>
  <Application>Microsoft Office PowerPoint</Application>
  <PresentationFormat>On-screen Show (16:9)</PresentationFormat>
  <Paragraphs>139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Wingdings</vt:lpstr>
      <vt:lpstr>Office Theme</vt:lpstr>
      <vt:lpstr>GCMC Workload report</vt:lpstr>
      <vt:lpstr>GCMC Workload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GCMC Workload report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Olivia Villani</dc:creator>
  <cp:lastModifiedBy>Danh Nguyen</cp:lastModifiedBy>
  <cp:revision>117</cp:revision>
  <dcterms:created xsi:type="dcterms:W3CDTF">2026-06-15T06:26:49Z</dcterms:created>
  <dcterms:modified xsi:type="dcterms:W3CDTF">2026-07-22T08:37:04Z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3d088b-6243-4963-a2e2-8b321ab7f8fc_Enabled">
    <vt:lpwstr>true</vt:lpwstr>
  </property>
  <property fmtid="{D5CDD505-2E9C-101B-9397-08002B2CF9AE}" pid="3" name="MSIP_Label_8c3d088b-6243-4963-a2e2-8b321ab7f8fc_SetDate">
    <vt:lpwstr>2021-10-12T23:31:41Z</vt:lpwstr>
  </property>
  <property fmtid="{D5CDD505-2E9C-101B-9397-08002B2CF9AE}" pid="4" name="MSIP_Label_8c3d088b-6243-4963-a2e2-8b321ab7f8fc_Method">
    <vt:lpwstr>Standard</vt:lpwstr>
  </property>
  <property fmtid="{D5CDD505-2E9C-101B-9397-08002B2CF9AE}" pid="5" name="MSIP_Label_8c3d088b-6243-4963-a2e2-8b321ab7f8fc_Name">
    <vt:lpwstr>Trusted</vt:lpwstr>
  </property>
  <property fmtid="{D5CDD505-2E9C-101B-9397-08002B2CF9AE}" pid="6" name="MSIP_Label_8c3d088b-6243-4963-a2e2-8b321ab7f8fc_SiteId">
    <vt:lpwstr>d1323671-cdbe-4417-b4d4-bdb24b51316b</vt:lpwstr>
  </property>
  <property fmtid="{D5CDD505-2E9C-101B-9397-08002B2CF9AE}" pid="7" name="MSIP_Label_8c3d088b-6243-4963-a2e2-8b321ab7f8fc_ActionId">
    <vt:lpwstr>04a7de1e-b51e-4c85-a10f-929f94def34a</vt:lpwstr>
  </property>
  <property fmtid="{D5CDD505-2E9C-101B-9397-08002B2CF9AE}" pid="8" name="MSIP_Label_8c3d088b-6243-4963-a2e2-8b321ab7f8fc_ContentBits">
    <vt:lpwstr>1</vt:lpwstr>
  </property>
  <property fmtid="{D5CDD505-2E9C-101B-9397-08002B2CF9AE}" pid="9" name="ClassificationContentMarkingHeaderLocations">
    <vt:lpwstr>office theme:8\Office Theme:4</vt:lpwstr>
  </property>
  <property fmtid="{D5CDD505-2E9C-101B-9397-08002B2CF9AE}" pid="10" name="ClassificationContentMarkingHeaderText">
    <vt:lpwstr>RMIT Classification: Trusted</vt:lpwstr>
  </property>
  <property fmtid="{D5CDD505-2E9C-101B-9397-08002B2CF9AE}" pid="11" name="ContentTypeId">
    <vt:lpwstr>0x01010034DA2C7976B688499ECCD65F462E1360</vt:lpwstr>
  </property>
  <property fmtid="{D5CDD505-2E9C-101B-9397-08002B2CF9AE}" pid="12" name="MediaServiceImageTags">
    <vt:lpwstr/>
  </property>
</Properties>
</file>